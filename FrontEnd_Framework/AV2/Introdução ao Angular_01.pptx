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sldIdLst>
    <p:sldId id="256" r:id="rId5"/>
    <p:sldId id="257" r:id="rId6"/>
    <p:sldId id="258" r:id="rId7"/>
    <p:sldId id="260" r:id="rId8"/>
    <p:sldId id="262" r:id="rId9"/>
    <p:sldId id="272" r:id="rId10"/>
    <p:sldId id="259" r:id="rId11"/>
    <p:sldId id="273" r:id="rId12"/>
    <p:sldId id="263" r:id="rId13"/>
    <p:sldId id="261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s Bernardino de Lima" userId="d657eb67-de73-4613-89cd-f7a0298faf60" providerId="ADAL" clId="{B9F16B3E-3E7D-472E-9E3F-FC610077F097}"/>
    <pc:docChg chg="undo custSel addSld modSld sldOrd">
      <pc:chgData name="Jonas Bernardino de Lima" userId="d657eb67-de73-4613-89cd-f7a0298faf60" providerId="ADAL" clId="{B9F16B3E-3E7D-472E-9E3F-FC610077F097}" dt="2024-10-24T22:51:08.908" v="484" actId="20577"/>
      <pc:docMkLst>
        <pc:docMk/>
      </pc:docMkLst>
      <pc:sldChg chg="addSp delSp modSp mod">
        <pc:chgData name="Jonas Bernardino de Lima" userId="d657eb67-de73-4613-89cd-f7a0298faf60" providerId="ADAL" clId="{B9F16B3E-3E7D-472E-9E3F-FC610077F097}" dt="2024-10-24T21:14:57.776" v="480" actId="14100"/>
        <pc:sldMkLst>
          <pc:docMk/>
          <pc:sldMk cId="2542491649" sldId="256"/>
        </pc:sldMkLst>
      </pc:sldChg>
      <pc:sldChg chg="addSp delSp modSp new mod setBg modAnim">
        <pc:chgData name="Jonas Bernardino de Lima" userId="d657eb67-de73-4613-89cd-f7a0298faf60" providerId="ADAL" clId="{B9F16B3E-3E7D-472E-9E3F-FC610077F097}" dt="2024-10-23T03:35:13.096" v="14"/>
        <pc:sldMkLst>
          <pc:docMk/>
          <pc:sldMk cId="1251093969" sldId="259"/>
        </pc:sldMkLst>
      </pc:sldChg>
      <pc:sldChg chg="addSp modSp new mod ord">
        <pc:chgData name="Jonas Bernardino de Lima" userId="d657eb67-de73-4613-89cd-f7a0298faf60" providerId="ADAL" clId="{B9F16B3E-3E7D-472E-9E3F-FC610077F097}" dt="2024-10-24T22:51:08.908" v="484" actId="20577"/>
        <pc:sldMkLst>
          <pc:docMk/>
          <pc:sldMk cId="2787141633" sldId="260"/>
        </pc:sldMkLst>
      </pc:sldChg>
      <pc:sldChg chg="addSp modSp new mod setBg">
        <pc:chgData name="Jonas Bernardino de Lima" userId="d657eb67-de73-4613-89cd-f7a0298faf60" providerId="ADAL" clId="{B9F16B3E-3E7D-472E-9E3F-FC610077F097}" dt="2024-10-23T03:52:41.296" v="259" actId="113"/>
        <pc:sldMkLst>
          <pc:docMk/>
          <pc:sldMk cId="1033353272" sldId="261"/>
        </pc:sldMkLst>
      </pc:sldChg>
      <pc:sldChg chg="addSp delSp modSp new mod setBg">
        <pc:chgData name="Jonas Bernardino de Lima" userId="d657eb67-de73-4613-89cd-f7a0298faf60" providerId="ADAL" clId="{B9F16B3E-3E7D-472E-9E3F-FC610077F097}" dt="2024-10-23T03:42:06.237" v="121" actId="1076"/>
        <pc:sldMkLst>
          <pc:docMk/>
          <pc:sldMk cId="3033552037" sldId="262"/>
        </pc:sldMkLst>
      </pc:sldChg>
      <pc:sldChg chg="modSp new mod">
        <pc:chgData name="Jonas Bernardino de Lima" userId="d657eb67-de73-4613-89cd-f7a0298faf60" providerId="ADAL" clId="{B9F16B3E-3E7D-472E-9E3F-FC610077F097}" dt="2024-10-23T03:45:54.920" v="156" actId="27636"/>
        <pc:sldMkLst>
          <pc:docMk/>
          <pc:sldMk cId="3643509139" sldId="263"/>
        </pc:sldMkLst>
      </pc:sldChg>
      <pc:sldChg chg="addSp delSp modSp new mod setBg">
        <pc:chgData name="Jonas Bernardino de Lima" userId="d657eb67-de73-4613-89cd-f7a0298faf60" providerId="ADAL" clId="{B9F16B3E-3E7D-472E-9E3F-FC610077F097}" dt="2024-10-23T03:58:22.530" v="269" actId="13926"/>
        <pc:sldMkLst>
          <pc:docMk/>
          <pc:sldMk cId="1446987360" sldId="264"/>
        </pc:sldMkLst>
      </pc:sldChg>
      <pc:sldChg chg="addSp delSp modSp add mod">
        <pc:chgData name="Jonas Bernardino de Lima" userId="d657eb67-de73-4613-89cd-f7a0298faf60" providerId="ADAL" clId="{B9F16B3E-3E7D-472E-9E3F-FC610077F097}" dt="2024-10-23T04:00:12.970" v="295" actId="14100"/>
        <pc:sldMkLst>
          <pc:docMk/>
          <pc:sldMk cId="776721998" sldId="265"/>
        </pc:sldMkLst>
      </pc:sldChg>
      <pc:sldChg chg="addSp modSp new mod">
        <pc:chgData name="Jonas Bernardino de Lima" userId="d657eb67-de73-4613-89cd-f7a0298faf60" providerId="ADAL" clId="{B9F16B3E-3E7D-472E-9E3F-FC610077F097}" dt="2024-10-23T04:01:49.276" v="321" actId="113"/>
        <pc:sldMkLst>
          <pc:docMk/>
          <pc:sldMk cId="2084941030" sldId="266"/>
        </pc:sldMkLst>
      </pc:sldChg>
      <pc:sldChg chg="addSp delSp modSp new mod">
        <pc:chgData name="Jonas Bernardino de Lima" userId="d657eb67-de73-4613-89cd-f7a0298faf60" providerId="ADAL" clId="{B9F16B3E-3E7D-472E-9E3F-FC610077F097}" dt="2024-10-23T04:04:32.182" v="368" actId="115"/>
        <pc:sldMkLst>
          <pc:docMk/>
          <pc:sldMk cId="2729170058" sldId="267"/>
        </pc:sldMkLst>
      </pc:sldChg>
      <pc:sldChg chg="addSp delSp modSp new mod setBg">
        <pc:chgData name="Jonas Bernardino de Lima" userId="d657eb67-de73-4613-89cd-f7a0298faf60" providerId="ADAL" clId="{B9F16B3E-3E7D-472E-9E3F-FC610077F097}" dt="2024-10-23T04:08:12.681" v="388" actId="207"/>
        <pc:sldMkLst>
          <pc:docMk/>
          <pc:sldMk cId="1476585880" sldId="268"/>
        </pc:sldMkLst>
      </pc:sldChg>
      <pc:sldChg chg="addSp delSp modSp new mod setBg">
        <pc:chgData name="Jonas Bernardino de Lima" userId="d657eb67-de73-4613-89cd-f7a0298faf60" providerId="ADAL" clId="{B9F16B3E-3E7D-472E-9E3F-FC610077F097}" dt="2024-10-23T04:09:08.134" v="401" actId="26606"/>
        <pc:sldMkLst>
          <pc:docMk/>
          <pc:sldMk cId="903827317" sldId="269"/>
        </pc:sldMkLst>
      </pc:sldChg>
      <pc:sldChg chg="addSp modSp new mod">
        <pc:chgData name="Jonas Bernardino de Lima" userId="d657eb67-de73-4613-89cd-f7a0298faf60" providerId="ADAL" clId="{B9F16B3E-3E7D-472E-9E3F-FC610077F097}" dt="2024-10-23T04:21:27.185" v="468"/>
        <pc:sldMkLst>
          <pc:docMk/>
          <pc:sldMk cId="3821142021" sldId="270"/>
        </pc:sldMkLst>
      </pc:sldChg>
      <pc:sldChg chg="delSp add setBg delDesignElem">
        <pc:chgData name="Jonas Bernardino de Lima" userId="d657eb67-de73-4613-89cd-f7a0298faf60" providerId="ADAL" clId="{B9F16B3E-3E7D-472E-9E3F-FC610077F097}" dt="2024-10-23T04:22:16.223" v="470"/>
        <pc:sldMkLst>
          <pc:docMk/>
          <pc:sldMk cId="870041456" sldId="271"/>
        </pc:sldMkLst>
      </pc:sldChg>
      <pc:sldChg chg="addSp delSp modSp new mod">
        <pc:chgData name="Jonas Bernardino de Lima" userId="d657eb67-de73-4613-89cd-f7a0298faf60" providerId="ADAL" clId="{B9F16B3E-3E7D-472E-9E3F-FC610077F097}" dt="2024-10-23T04:23:33.340" v="474" actId="22"/>
        <pc:sldMkLst>
          <pc:docMk/>
          <pc:sldMk cId="1408389860" sldId="272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181045-E466-4510-B8F4-0CD4067510B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397A0CC-C083-4F67-8AC9-5F93C1AAEA9C}">
      <dgm:prSet/>
      <dgm:spPr/>
      <dgm:t>
        <a:bodyPr/>
        <a:lstStyle/>
        <a:p>
          <a:r>
            <a:rPr lang="pt-BR" b="0" i="0" baseline="0"/>
            <a:t>Estruturação modular de projetos</a:t>
          </a:r>
          <a:endParaRPr lang="en-US"/>
        </a:p>
      </dgm:t>
    </dgm:pt>
    <dgm:pt modelId="{726ADF4D-F02F-4EA6-BF4E-684BA8C1CD3D}" type="parTrans" cxnId="{9B1211DB-8C9E-46D0-9E4C-4BEB6AEF6986}">
      <dgm:prSet/>
      <dgm:spPr/>
      <dgm:t>
        <a:bodyPr/>
        <a:lstStyle/>
        <a:p>
          <a:endParaRPr lang="en-US"/>
        </a:p>
      </dgm:t>
    </dgm:pt>
    <dgm:pt modelId="{FF1D1AF2-4713-4F3E-9E5D-ED84E60294AE}" type="sibTrans" cxnId="{9B1211DB-8C9E-46D0-9E4C-4BEB6AEF6986}">
      <dgm:prSet/>
      <dgm:spPr/>
      <dgm:t>
        <a:bodyPr/>
        <a:lstStyle/>
        <a:p>
          <a:endParaRPr lang="en-US"/>
        </a:p>
      </dgm:t>
    </dgm:pt>
    <dgm:pt modelId="{AC1FF5D2-E0B6-420C-808B-626628CBA7D8}">
      <dgm:prSet/>
      <dgm:spPr/>
      <dgm:t>
        <a:bodyPr/>
        <a:lstStyle/>
        <a:p>
          <a:r>
            <a:rPr lang="pt-BR" b="0" i="0" baseline="0" dirty="0"/>
            <a:t>Roteamento integrado</a:t>
          </a:r>
          <a:endParaRPr lang="en-US" dirty="0"/>
        </a:p>
      </dgm:t>
    </dgm:pt>
    <dgm:pt modelId="{274D29E7-7FA0-414D-8EA0-15317DB04980}" type="parTrans" cxnId="{A750A417-66DA-4FC9-AD65-4D72A2DE34E0}">
      <dgm:prSet/>
      <dgm:spPr/>
      <dgm:t>
        <a:bodyPr/>
        <a:lstStyle/>
        <a:p>
          <a:endParaRPr lang="en-US"/>
        </a:p>
      </dgm:t>
    </dgm:pt>
    <dgm:pt modelId="{665256DF-AFD1-4228-A8B2-F7A7AFDB329E}" type="sibTrans" cxnId="{A750A417-66DA-4FC9-AD65-4D72A2DE34E0}">
      <dgm:prSet/>
      <dgm:spPr/>
      <dgm:t>
        <a:bodyPr/>
        <a:lstStyle/>
        <a:p>
          <a:endParaRPr lang="en-US"/>
        </a:p>
      </dgm:t>
    </dgm:pt>
    <dgm:pt modelId="{F343F30E-9D4A-4306-A812-0450E7668B21}">
      <dgm:prSet/>
      <dgm:spPr/>
      <dgm:t>
        <a:bodyPr/>
        <a:lstStyle/>
        <a:p>
          <a:r>
            <a:rPr lang="pt-BR" b="0" i="0" baseline="0" dirty="0"/>
            <a:t>Sistema de </a:t>
          </a:r>
          <a:r>
            <a:rPr lang="pt-BR" b="0" i="0" baseline="0" dirty="0" err="1"/>
            <a:t>templates</a:t>
          </a:r>
          <a:r>
            <a:rPr lang="pt-BR" b="0" i="0" baseline="0" dirty="0"/>
            <a:t> e componentes reutilizáveis</a:t>
          </a:r>
          <a:endParaRPr lang="en-US" dirty="0"/>
        </a:p>
      </dgm:t>
    </dgm:pt>
    <dgm:pt modelId="{4E750169-24F0-4FB7-AE0C-E8950A9917B6}" type="parTrans" cxnId="{124088E8-1C03-48D1-ACD1-1CE68EA8808F}">
      <dgm:prSet/>
      <dgm:spPr/>
      <dgm:t>
        <a:bodyPr/>
        <a:lstStyle/>
        <a:p>
          <a:endParaRPr lang="en-US"/>
        </a:p>
      </dgm:t>
    </dgm:pt>
    <dgm:pt modelId="{B684F85C-5D15-41EB-9AE7-ADEA2F255D68}" type="sibTrans" cxnId="{124088E8-1C03-48D1-ACD1-1CE68EA8808F}">
      <dgm:prSet/>
      <dgm:spPr/>
      <dgm:t>
        <a:bodyPr/>
        <a:lstStyle/>
        <a:p>
          <a:endParaRPr lang="en-US"/>
        </a:p>
      </dgm:t>
    </dgm:pt>
    <dgm:pt modelId="{92F77E78-1D2E-4DDD-9DD7-A7DD1C7DD6F3}">
      <dgm:prSet/>
      <dgm:spPr/>
      <dgm:t>
        <a:bodyPr/>
        <a:lstStyle/>
        <a:p>
          <a:r>
            <a:rPr lang="pt-BR" b="0" i="0" baseline="0" dirty="0"/>
            <a:t>Ferramentas de desenvolvimento robustas </a:t>
          </a:r>
          <a:endParaRPr lang="en-US" dirty="0"/>
        </a:p>
      </dgm:t>
    </dgm:pt>
    <dgm:pt modelId="{DD252675-9E27-4616-8816-B09C75721FBD}" type="parTrans" cxnId="{54079AC0-6E49-49C2-9A68-CA02928D4789}">
      <dgm:prSet/>
      <dgm:spPr/>
      <dgm:t>
        <a:bodyPr/>
        <a:lstStyle/>
        <a:p>
          <a:endParaRPr lang="en-US"/>
        </a:p>
      </dgm:t>
    </dgm:pt>
    <dgm:pt modelId="{5AE9C196-0F7E-4B0A-BB7C-CF54FEF0BACD}" type="sibTrans" cxnId="{54079AC0-6E49-49C2-9A68-CA02928D4789}">
      <dgm:prSet/>
      <dgm:spPr/>
      <dgm:t>
        <a:bodyPr/>
        <a:lstStyle/>
        <a:p>
          <a:endParaRPr lang="en-US"/>
        </a:p>
      </dgm:t>
    </dgm:pt>
    <dgm:pt modelId="{E4FF75BC-946D-4BF4-B751-9C860DDF998E}" type="pres">
      <dgm:prSet presAssocID="{84181045-E466-4510-B8F4-0CD4067510B5}" presName="root" presStyleCnt="0">
        <dgm:presLayoutVars>
          <dgm:dir/>
          <dgm:resizeHandles val="exact"/>
        </dgm:presLayoutVars>
      </dgm:prSet>
      <dgm:spPr/>
    </dgm:pt>
    <dgm:pt modelId="{0B1E785C-4E10-463B-9E59-BDC509BA6EC5}" type="pres">
      <dgm:prSet presAssocID="{7397A0CC-C083-4F67-8AC9-5F93C1AAEA9C}" presName="compNode" presStyleCnt="0"/>
      <dgm:spPr/>
    </dgm:pt>
    <dgm:pt modelId="{85C4B6C2-3ACF-48D4-B1B7-4E6ABA769B02}" type="pres">
      <dgm:prSet presAssocID="{7397A0CC-C083-4F67-8AC9-5F93C1AAEA9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7C2711B5-00D5-4AB2-A5B6-29696571D7F9}" type="pres">
      <dgm:prSet presAssocID="{7397A0CC-C083-4F67-8AC9-5F93C1AAEA9C}" presName="spaceRect" presStyleCnt="0"/>
      <dgm:spPr/>
    </dgm:pt>
    <dgm:pt modelId="{4079494B-093B-4101-9A1D-774BBFDB0526}" type="pres">
      <dgm:prSet presAssocID="{7397A0CC-C083-4F67-8AC9-5F93C1AAEA9C}" presName="textRect" presStyleLbl="revTx" presStyleIdx="0" presStyleCnt="4">
        <dgm:presLayoutVars>
          <dgm:chMax val="1"/>
          <dgm:chPref val="1"/>
        </dgm:presLayoutVars>
      </dgm:prSet>
      <dgm:spPr/>
    </dgm:pt>
    <dgm:pt modelId="{FFD972E3-5020-4C62-A28C-A43E26C704AC}" type="pres">
      <dgm:prSet presAssocID="{FF1D1AF2-4713-4F3E-9E5D-ED84E60294AE}" presName="sibTrans" presStyleCnt="0"/>
      <dgm:spPr/>
    </dgm:pt>
    <dgm:pt modelId="{1FAFF933-5705-4EA6-BC91-5EAB7A3ED071}" type="pres">
      <dgm:prSet presAssocID="{AC1FF5D2-E0B6-420C-808B-626628CBA7D8}" presName="compNode" presStyleCnt="0"/>
      <dgm:spPr/>
    </dgm:pt>
    <dgm:pt modelId="{15340EB2-5F79-4962-950E-80D2856539A4}" type="pres">
      <dgm:prSet presAssocID="{AC1FF5D2-E0B6-420C-808B-626628CBA7D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CA0AB90C-241A-4C83-B542-8BF1BD890DE1}" type="pres">
      <dgm:prSet presAssocID="{AC1FF5D2-E0B6-420C-808B-626628CBA7D8}" presName="spaceRect" presStyleCnt="0"/>
      <dgm:spPr/>
    </dgm:pt>
    <dgm:pt modelId="{7B50223D-407A-4E7B-B8ED-CDFE306937FC}" type="pres">
      <dgm:prSet presAssocID="{AC1FF5D2-E0B6-420C-808B-626628CBA7D8}" presName="textRect" presStyleLbl="revTx" presStyleIdx="1" presStyleCnt="4">
        <dgm:presLayoutVars>
          <dgm:chMax val="1"/>
          <dgm:chPref val="1"/>
        </dgm:presLayoutVars>
      </dgm:prSet>
      <dgm:spPr/>
    </dgm:pt>
    <dgm:pt modelId="{6D16C4E6-E077-4DEA-9B46-4CC7BFF31AB8}" type="pres">
      <dgm:prSet presAssocID="{665256DF-AFD1-4228-A8B2-F7A7AFDB329E}" presName="sibTrans" presStyleCnt="0"/>
      <dgm:spPr/>
    </dgm:pt>
    <dgm:pt modelId="{11530BF3-8BF3-4E07-A026-7EA46ECE99EF}" type="pres">
      <dgm:prSet presAssocID="{F343F30E-9D4A-4306-A812-0450E7668B21}" presName="compNode" presStyleCnt="0"/>
      <dgm:spPr/>
    </dgm:pt>
    <dgm:pt modelId="{342BF40B-D863-471F-9211-088AF5BFF415}" type="pres">
      <dgm:prSet presAssocID="{F343F30E-9D4A-4306-A812-0450E7668B2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B81647E7-EF49-444F-A4DB-6AA1697BE2B7}" type="pres">
      <dgm:prSet presAssocID="{F343F30E-9D4A-4306-A812-0450E7668B21}" presName="spaceRect" presStyleCnt="0"/>
      <dgm:spPr/>
    </dgm:pt>
    <dgm:pt modelId="{AEBD5FCA-F38C-470B-8A2F-77FA396FD485}" type="pres">
      <dgm:prSet presAssocID="{F343F30E-9D4A-4306-A812-0450E7668B21}" presName="textRect" presStyleLbl="revTx" presStyleIdx="2" presStyleCnt="4">
        <dgm:presLayoutVars>
          <dgm:chMax val="1"/>
          <dgm:chPref val="1"/>
        </dgm:presLayoutVars>
      </dgm:prSet>
      <dgm:spPr/>
    </dgm:pt>
    <dgm:pt modelId="{8171CFE0-6FE0-400D-B817-780507B3CB2C}" type="pres">
      <dgm:prSet presAssocID="{B684F85C-5D15-41EB-9AE7-ADEA2F255D68}" presName="sibTrans" presStyleCnt="0"/>
      <dgm:spPr/>
    </dgm:pt>
    <dgm:pt modelId="{18029398-B240-4E14-B0D6-64F68BEF636C}" type="pres">
      <dgm:prSet presAssocID="{92F77E78-1D2E-4DDD-9DD7-A7DD1C7DD6F3}" presName="compNode" presStyleCnt="0"/>
      <dgm:spPr/>
    </dgm:pt>
    <dgm:pt modelId="{7744C795-9DD8-478E-9066-19FD29144230}" type="pres">
      <dgm:prSet presAssocID="{92F77E78-1D2E-4DDD-9DD7-A7DD1C7DD6F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erramentas"/>
        </a:ext>
      </dgm:extLst>
    </dgm:pt>
    <dgm:pt modelId="{5B4C50A3-EBDB-4085-8B3C-E7C5F6E082A7}" type="pres">
      <dgm:prSet presAssocID="{92F77E78-1D2E-4DDD-9DD7-A7DD1C7DD6F3}" presName="spaceRect" presStyleCnt="0"/>
      <dgm:spPr/>
    </dgm:pt>
    <dgm:pt modelId="{AF2E9152-A8D1-4F51-B62D-6E2512478F41}" type="pres">
      <dgm:prSet presAssocID="{92F77E78-1D2E-4DDD-9DD7-A7DD1C7DD6F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997060F-1820-4393-AEB6-2FE33D16C435}" type="presOf" srcId="{84181045-E466-4510-B8F4-0CD4067510B5}" destId="{E4FF75BC-946D-4BF4-B751-9C860DDF998E}" srcOrd="0" destOrd="0" presId="urn:microsoft.com/office/officeart/2018/2/layout/IconLabelList"/>
    <dgm:cxn modelId="{F9D44913-D4FB-4259-9932-EF9D70EB1EA4}" type="presOf" srcId="{F343F30E-9D4A-4306-A812-0450E7668B21}" destId="{AEBD5FCA-F38C-470B-8A2F-77FA396FD485}" srcOrd="0" destOrd="0" presId="urn:microsoft.com/office/officeart/2018/2/layout/IconLabelList"/>
    <dgm:cxn modelId="{A750A417-66DA-4FC9-AD65-4D72A2DE34E0}" srcId="{84181045-E466-4510-B8F4-0CD4067510B5}" destId="{AC1FF5D2-E0B6-420C-808B-626628CBA7D8}" srcOrd="1" destOrd="0" parTransId="{274D29E7-7FA0-414D-8EA0-15317DB04980}" sibTransId="{665256DF-AFD1-4228-A8B2-F7A7AFDB329E}"/>
    <dgm:cxn modelId="{9BEC5424-4038-4876-BDD1-90F22E4C94B0}" type="presOf" srcId="{7397A0CC-C083-4F67-8AC9-5F93C1AAEA9C}" destId="{4079494B-093B-4101-9A1D-774BBFDB0526}" srcOrd="0" destOrd="0" presId="urn:microsoft.com/office/officeart/2018/2/layout/IconLabelList"/>
    <dgm:cxn modelId="{E2E82126-B847-45FA-8FFF-09BFECB90C3C}" type="presOf" srcId="{AC1FF5D2-E0B6-420C-808B-626628CBA7D8}" destId="{7B50223D-407A-4E7B-B8ED-CDFE306937FC}" srcOrd="0" destOrd="0" presId="urn:microsoft.com/office/officeart/2018/2/layout/IconLabelList"/>
    <dgm:cxn modelId="{88F03C3E-4D68-466F-A8B7-8FBB86710AF3}" type="presOf" srcId="{92F77E78-1D2E-4DDD-9DD7-A7DD1C7DD6F3}" destId="{AF2E9152-A8D1-4F51-B62D-6E2512478F41}" srcOrd="0" destOrd="0" presId="urn:microsoft.com/office/officeart/2018/2/layout/IconLabelList"/>
    <dgm:cxn modelId="{54079AC0-6E49-49C2-9A68-CA02928D4789}" srcId="{84181045-E466-4510-B8F4-0CD4067510B5}" destId="{92F77E78-1D2E-4DDD-9DD7-A7DD1C7DD6F3}" srcOrd="3" destOrd="0" parTransId="{DD252675-9E27-4616-8816-B09C75721FBD}" sibTransId="{5AE9C196-0F7E-4B0A-BB7C-CF54FEF0BACD}"/>
    <dgm:cxn modelId="{9B1211DB-8C9E-46D0-9E4C-4BEB6AEF6986}" srcId="{84181045-E466-4510-B8F4-0CD4067510B5}" destId="{7397A0CC-C083-4F67-8AC9-5F93C1AAEA9C}" srcOrd="0" destOrd="0" parTransId="{726ADF4D-F02F-4EA6-BF4E-684BA8C1CD3D}" sibTransId="{FF1D1AF2-4713-4F3E-9E5D-ED84E60294AE}"/>
    <dgm:cxn modelId="{124088E8-1C03-48D1-ACD1-1CE68EA8808F}" srcId="{84181045-E466-4510-B8F4-0CD4067510B5}" destId="{F343F30E-9D4A-4306-A812-0450E7668B21}" srcOrd="2" destOrd="0" parTransId="{4E750169-24F0-4FB7-AE0C-E8950A9917B6}" sibTransId="{B684F85C-5D15-41EB-9AE7-ADEA2F255D68}"/>
    <dgm:cxn modelId="{52A79BF5-2E25-4AFB-8C2B-34A828718648}" type="presParOf" srcId="{E4FF75BC-946D-4BF4-B751-9C860DDF998E}" destId="{0B1E785C-4E10-463B-9E59-BDC509BA6EC5}" srcOrd="0" destOrd="0" presId="urn:microsoft.com/office/officeart/2018/2/layout/IconLabelList"/>
    <dgm:cxn modelId="{B3E485D8-A7E3-4E34-9439-07F39C3C148A}" type="presParOf" srcId="{0B1E785C-4E10-463B-9E59-BDC509BA6EC5}" destId="{85C4B6C2-3ACF-48D4-B1B7-4E6ABA769B02}" srcOrd="0" destOrd="0" presId="urn:microsoft.com/office/officeart/2018/2/layout/IconLabelList"/>
    <dgm:cxn modelId="{A3E66B87-589C-4D50-B289-E0E23785337E}" type="presParOf" srcId="{0B1E785C-4E10-463B-9E59-BDC509BA6EC5}" destId="{7C2711B5-00D5-4AB2-A5B6-29696571D7F9}" srcOrd="1" destOrd="0" presId="urn:microsoft.com/office/officeart/2018/2/layout/IconLabelList"/>
    <dgm:cxn modelId="{5D6C5937-14EC-43C8-924C-91B52AD31C6E}" type="presParOf" srcId="{0B1E785C-4E10-463B-9E59-BDC509BA6EC5}" destId="{4079494B-093B-4101-9A1D-774BBFDB0526}" srcOrd="2" destOrd="0" presId="urn:microsoft.com/office/officeart/2018/2/layout/IconLabelList"/>
    <dgm:cxn modelId="{B28297EF-6A8A-48F7-A194-3649BF7FAE50}" type="presParOf" srcId="{E4FF75BC-946D-4BF4-B751-9C860DDF998E}" destId="{FFD972E3-5020-4C62-A28C-A43E26C704AC}" srcOrd="1" destOrd="0" presId="urn:microsoft.com/office/officeart/2018/2/layout/IconLabelList"/>
    <dgm:cxn modelId="{F217DBF8-F34B-45C9-988D-8D9EACC19C22}" type="presParOf" srcId="{E4FF75BC-946D-4BF4-B751-9C860DDF998E}" destId="{1FAFF933-5705-4EA6-BC91-5EAB7A3ED071}" srcOrd="2" destOrd="0" presId="urn:microsoft.com/office/officeart/2018/2/layout/IconLabelList"/>
    <dgm:cxn modelId="{A7433A5A-31D5-42D3-8668-95443905EF23}" type="presParOf" srcId="{1FAFF933-5705-4EA6-BC91-5EAB7A3ED071}" destId="{15340EB2-5F79-4962-950E-80D2856539A4}" srcOrd="0" destOrd="0" presId="urn:microsoft.com/office/officeart/2018/2/layout/IconLabelList"/>
    <dgm:cxn modelId="{8F16BB8A-C150-43E3-8B17-AC9EFA1DEDCA}" type="presParOf" srcId="{1FAFF933-5705-4EA6-BC91-5EAB7A3ED071}" destId="{CA0AB90C-241A-4C83-B542-8BF1BD890DE1}" srcOrd="1" destOrd="0" presId="urn:microsoft.com/office/officeart/2018/2/layout/IconLabelList"/>
    <dgm:cxn modelId="{A725C26B-D2F6-486E-B47B-795185C57769}" type="presParOf" srcId="{1FAFF933-5705-4EA6-BC91-5EAB7A3ED071}" destId="{7B50223D-407A-4E7B-B8ED-CDFE306937FC}" srcOrd="2" destOrd="0" presId="urn:microsoft.com/office/officeart/2018/2/layout/IconLabelList"/>
    <dgm:cxn modelId="{FB7AD715-0040-471E-9C49-910147FAF49A}" type="presParOf" srcId="{E4FF75BC-946D-4BF4-B751-9C860DDF998E}" destId="{6D16C4E6-E077-4DEA-9B46-4CC7BFF31AB8}" srcOrd="3" destOrd="0" presId="urn:microsoft.com/office/officeart/2018/2/layout/IconLabelList"/>
    <dgm:cxn modelId="{653AD56B-0E5F-447F-B3B1-97C1263E2532}" type="presParOf" srcId="{E4FF75BC-946D-4BF4-B751-9C860DDF998E}" destId="{11530BF3-8BF3-4E07-A026-7EA46ECE99EF}" srcOrd="4" destOrd="0" presId="urn:microsoft.com/office/officeart/2018/2/layout/IconLabelList"/>
    <dgm:cxn modelId="{47963EE3-19AB-4FE8-953D-0A5F814BD4FA}" type="presParOf" srcId="{11530BF3-8BF3-4E07-A026-7EA46ECE99EF}" destId="{342BF40B-D863-471F-9211-088AF5BFF415}" srcOrd="0" destOrd="0" presId="urn:microsoft.com/office/officeart/2018/2/layout/IconLabelList"/>
    <dgm:cxn modelId="{2A7A91C1-2CD5-402B-A3AB-87D66D084F78}" type="presParOf" srcId="{11530BF3-8BF3-4E07-A026-7EA46ECE99EF}" destId="{B81647E7-EF49-444F-A4DB-6AA1697BE2B7}" srcOrd="1" destOrd="0" presId="urn:microsoft.com/office/officeart/2018/2/layout/IconLabelList"/>
    <dgm:cxn modelId="{36B3A955-1886-46ED-9F3A-9369B467A457}" type="presParOf" srcId="{11530BF3-8BF3-4E07-A026-7EA46ECE99EF}" destId="{AEBD5FCA-F38C-470B-8A2F-77FA396FD485}" srcOrd="2" destOrd="0" presId="urn:microsoft.com/office/officeart/2018/2/layout/IconLabelList"/>
    <dgm:cxn modelId="{C5390A24-4288-424B-AA2F-6CEF2E155617}" type="presParOf" srcId="{E4FF75BC-946D-4BF4-B751-9C860DDF998E}" destId="{8171CFE0-6FE0-400D-B817-780507B3CB2C}" srcOrd="5" destOrd="0" presId="urn:microsoft.com/office/officeart/2018/2/layout/IconLabelList"/>
    <dgm:cxn modelId="{B38EB72A-DC4D-4D97-9BFB-5B9333E1DD72}" type="presParOf" srcId="{E4FF75BC-946D-4BF4-B751-9C860DDF998E}" destId="{18029398-B240-4E14-B0D6-64F68BEF636C}" srcOrd="6" destOrd="0" presId="urn:microsoft.com/office/officeart/2018/2/layout/IconLabelList"/>
    <dgm:cxn modelId="{4DE948BB-8D46-47B2-B267-49C051D7EC78}" type="presParOf" srcId="{18029398-B240-4E14-B0D6-64F68BEF636C}" destId="{7744C795-9DD8-478E-9066-19FD29144230}" srcOrd="0" destOrd="0" presId="urn:microsoft.com/office/officeart/2018/2/layout/IconLabelList"/>
    <dgm:cxn modelId="{E01EAB29-7691-4B04-86C6-F9D03124560C}" type="presParOf" srcId="{18029398-B240-4E14-B0D6-64F68BEF636C}" destId="{5B4C50A3-EBDB-4085-8B3C-E7C5F6E082A7}" srcOrd="1" destOrd="0" presId="urn:microsoft.com/office/officeart/2018/2/layout/IconLabelList"/>
    <dgm:cxn modelId="{9A7930EA-5FE2-42D5-8467-DEC916D6B922}" type="presParOf" srcId="{18029398-B240-4E14-B0D6-64F68BEF636C}" destId="{AF2E9152-A8D1-4F51-B62D-6E2512478F4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C4B6C2-3ACF-48D4-B1B7-4E6ABA769B02}">
      <dsp:nvSpPr>
        <dsp:cNvPr id="0" name=""/>
        <dsp:cNvSpPr/>
      </dsp:nvSpPr>
      <dsp:spPr>
        <a:xfrm>
          <a:off x="769466" y="557317"/>
          <a:ext cx="1067985" cy="10679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79494B-093B-4101-9A1D-774BBFDB0526}">
      <dsp:nvSpPr>
        <dsp:cNvPr id="0" name=""/>
        <dsp:cNvSpPr/>
      </dsp:nvSpPr>
      <dsp:spPr>
        <a:xfrm>
          <a:off x="116808" y="1940970"/>
          <a:ext cx="2373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0" i="0" kern="1200" baseline="0"/>
            <a:t>Estruturação modular de projetos</a:t>
          </a:r>
          <a:endParaRPr lang="en-US" sz="1700" kern="1200"/>
        </a:p>
      </dsp:txBody>
      <dsp:txXfrm>
        <a:off x="116808" y="1940970"/>
        <a:ext cx="2373300" cy="720000"/>
      </dsp:txXfrm>
    </dsp:sp>
    <dsp:sp modelId="{15340EB2-5F79-4962-950E-80D2856539A4}">
      <dsp:nvSpPr>
        <dsp:cNvPr id="0" name=""/>
        <dsp:cNvSpPr/>
      </dsp:nvSpPr>
      <dsp:spPr>
        <a:xfrm>
          <a:off x="3558093" y="557317"/>
          <a:ext cx="1067985" cy="10679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50223D-407A-4E7B-B8ED-CDFE306937FC}">
      <dsp:nvSpPr>
        <dsp:cNvPr id="0" name=""/>
        <dsp:cNvSpPr/>
      </dsp:nvSpPr>
      <dsp:spPr>
        <a:xfrm>
          <a:off x="2905436" y="1940970"/>
          <a:ext cx="2373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0" i="0" kern="1200" baseline="0" dirty="0"/>
            <a:t>Roteamento integrado</a:t>
          </a:r>
          <a:endParaRPr lang="en-US" sz="1700" kern="1200" dirty="0"/>
        </a:p>
      </dsp:txBody>
      <dsp:txXfrm>
        <a:off x="2905436" y="1940970"/>
        <a:ext cx="2373300" cy="720000"/>
      </dsp:txXfrm>
    </dsp:sp>
    <dsp:sp modelId="{342BF40B-D863-471F-9211-088AF5BFF415}">
      <dsp:nvSpPr>
        <dsp:cNvPr id="0" name=""/>
        <dsp:cNvSpPr/>
      </dsp:nvSpPr>
      <dsp:spPr>
        <a:xfrm>
          <a:off x="6346721" y="557317"/>
          <a:ext cx="1067985" cy="10679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BD5FCA-F38C-470B-8A2F-77FA396FD485}">
      <dsp:nvSpPr>
        <dsp:cNvPr id="0" name=""/>
        <dsp:cNvSpPr/>
      </dsp:nvSpPr>
      <dsp:spPr>
        <a:xfrm>
          <a:off x="5694063" y="1940970"/>
          <a:ext cx="2373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0" i="0" kern="1200" baseline="0" dirty="0"/>
            <a:t>Sistema de </a:t>
          </a:r>
          <a:r>
            <a:rPr lang="pt-BR" sz="1700" b="0" i="0" kern="1200" baseline="0" dirty="0" err="1"/>
            <a:t>templates</a:t>
          </a:r>
          <a:r>
            <a:rPr lang="pt-BR" sz="1700" b="0" i="0" kern="1200" baseline="0" dirty="0"/>
            <a:t> e componentes reutilizáveis</a:t>
          </a:r>
          <a:endParaRPr lang="en-US" sz="1700" kern="1200" dirty="0"/>
        </a:p>
      </dsp:txBody>
      <dsp:txXfrm>
        <a:off x="5694063" y="1940970"/>
        <a:ext cx="2373300" cy="720000"/>
      </dsp:txXfrm>
    </dsp:sp>
    <dsp:sp modelId="{7744C795-9DD8-478E-9066-19FD29144230}">
      <dsp:nvSpPr>
        <dsp:cNvPr id="0" name=""/>
        <dsp:cNvSpPr/>
      </dsp:nvSpPr>
      <dsp:spPr>
        <a:xfrm>
          <a:off x="9135348" y="557317"/>
          <a:ext cx="1067985" cy="106798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2E9152-A8D1-4F51-B62D-6E2512478F41}">
      <dsp:nvSpPr>
        <dsp:cNvPr id="0" name=""/>
        <dsp:cNvSpPr/>
      </dsp:nvSpPr>
      <dsp:spPr>
        <a:xfrm>
          <a:off x="8482691" y="1940970"/>
          <a:ext cx="2373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0" i="0" kern="1200" baseline="0" dirty="0"/>
            <a:t>Ferramentas de desenvolvimento robustas </a:t>
          </a:r>
          <a:endParaRPr lang="en-US" sz="1700" kern="1200" dirty="0"/>
        </a:p>
      </dsp:txBody>
      <dsp:txXfrm>
        <a:off x="8482691" y="1940970"/>
        <a:ext cx="23733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548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737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678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8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34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984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008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703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759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63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76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615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3" name="Rectangle 1041">
            <a:extLst>
              <a:ext uri="{FF2B5EF4-FFF2-40B4-BE49-F238E27FC236}">
                <a16:creationId xmlns:a16="http://schemas.microsoft.com/office/drawing/2014/main" id="{06E15305-164C-44CD-9E0F-420C2DC1B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054" name="Rectangle 1043">
            <a:extLst>
              <a:ext uri="{FF2B5EF4-FFF2-40B4-BE49-F238E27FC236}">
                <a16:creationId xmlns:a16="http://schemas.microsoft.com/office/drawing/2014/main" id="{CF7EFA39-0978-4C57-AE13-B39A904C4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C78334A-1D10-8DB7-489E-318F84171A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42925"/>
            <a:ext cx="6543674" cy="1461249"/>
          </a:xfrm>
        </p:spPr>
        <p:txBody>
          <a:bodyPr anchor="ctr">
            <a:normAutofit/>
          </a:bodyPr>
          <a:lstStyle/>
          <a:p>
            <a:r>
              <a:rPr lang="pt-BR" sz="4400"/>
              <a:t>Introdução ao Angular</a:t>
            </a:r>
          </a:p>
        </p:txBody>
      </p:sp>
      <p:pic>
        <p:nvPicPr>
          <p:cNvPr id="1026" name="Picture 2" descr="Angular.dev : r/Angular2">
            <a:extLst>
              <a:ext uri="{FF2B5EF4-FFF2-40B4-BE49-F238E27FC236}">
                <a16:creationId xmlns:a16="http://schemas.microsoft.com/office/drawing/2014/main" id="{D1DB83CA-9130-6327-FF15-797E59265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26" b="11675"/>
          <a:stretch/>
        </p:blipFill>
        <p:spPr bwMode="auto">
          <a:xfrm>
            <a:off x="20" y="2140698"/>
            <a:ext cx="12191980" cy="4717302"/>
          </a:xfrm>
          <a:custGeom>
            <a:avLst/>
            <a:gdLst/>
            <a:ahLst/>
            <a:cxnLst/>
            <a:rect l="l" t="t" r="r" b="b"/>
            <a:pathLst>
              <a:path w="12192000" h="4717302">
                <a:moveTo>
                  <a:pt x="4545624" y="203817"/>
                </a:moveTo>
                <a:cubicBezTo>
                  <a:pt x="4760432" y="212378"/>
                  <a:pt x="4978404" y="270695"/>
                  <a:pt x="5197345" y="381665"/>
                </a:cubicBezTo>
                <a:cubicBezTo>
                  <a:pt x="5469063" y="519380"/>
                  <a:pt x="5697157" y="768676"/>
                  <a:pt x="5904467" y="1003103"/>
                </a:cubicBezTo>
                <a:cubicBezTo>
                  <a:pt x="6460267" y="1631811"/>
                  <a:pt x="7148441" y="1649803"/>
                  <a:pt x="7799404" y="1324958"/>
                </a:cubicBezTo>
                <a:cubicBezTo>
                  <a:pt x="8261577" y="1093435"/>
                  <a:pt x="8699978" y="808698"/>
                  <a:pt x="9177500" y="617080"/>
                </a:cubicBezTo>
                <a:cubicBezTo>
                  <a:pt x="10214180" y="198893"/>
                  <a:pt x="11218758" y="217816"/>
                  <a:pt x="12105586" y="813997"/>
                </a:cubicBezTo>
                <a:lnTo>
                  <a:pt x="12192000" y="876736"/>
                </a:lnTo>
                <a:lnTo>
                  <a:pt x="12192000" y="4717302"/>
                </a:lnTo>
                <a:lnTo>
                  <a:pt x="0" y="4717302"/>
                </a:lnTo>
                <a:lnTo>
                  <a:pt x="0" y="1347411"/>
                </a:lnTo>
                <a:lnTo>
                  <a:pt x="67985" y="1306589"/>
                </a:lnTo>
                <a:cubicBezTo>
                  <a:pt x="399959" y="1135764"/>
                  <a:pt x="748383" y="1140050"/>
                  <a:pt x="1114543" y="1215577"/>
                </a:cubicBezTo>
                <a:cubicBezTo>
                  <a:pt x="1512811" y="1297442"/>
                  <a:pt x="1920266" y="1359021"/>
                  <a:pt x="2324754" y="1365710"/>
                </a:cubicBezTo>
                <a:cubicBezTo>
                  <a:pt x="2699664" y="1371691"/>
                  <a:pt x="2952864" y="1090973"/>
                  <a:pt x="3197198" y="838924"/>
                </a:cubicBezTo>
                <a:cubicBezTo>
                  <a:pt x="3615781" y="406968"/>
                  <a:pt x="4073046" y="184983"/>
                  <a:pt x="4545624" y="203817"/>
                </a:cubicBezTo>
                <a:close/>
                <a:moveTo>
                  <a:pt x="2293086" y="102715"/>
                </a:moveTo>
                <a:cubicBezTo>
                  <a:pt x="2467546" y="91895"/>
                  <a:pt x="2639764" y="184257"/>
                  <a:pt x="2722654" y="350616"/>
                </a:cubicBezTo>
                <a:cubicBezTo>
                  <a:pt x="2833176" y="572429"/>
                  <a:pt x="2743044" y="841796"/>
                  <a:pt x="2521340" y="952264"/>
                </a:cubicBezTo>
                <a:cubicBezTo>
                  <a:pt x="2465913" y="979881"/>
                  <a:pt x="2407510" y="994953"/>
                  <a:pt x="2349358" y="998559"/>
                </a:cubicBezTo>
                <a:cubicBezTo>
                  <a:pt x="2174899" y="1009379"/>
                  <a:pt x="2002682" y="917016"/>
                  <a:pt x="1919790" y="750657"/>
                </a:cubicBezTo>
                <a:cubicBezTo>
                  <a:pt x="1809268" y="528844"/>
                  <a:pt x="1899400" y="259477"/>
                  <a:pt x="2121104" y="149010"/>
                </a:cubicBezTo>
                <a:cubicBezTo>
                  <a:pt x="2176531" y="121393"/>
                  <a:pt x="2234933" y="106322"/>
                  <a:pt x="2293086" y="102715"/>
                </a:cubicBezTo>
                <a:close/>
                <a:moveTo>
                  <a:pt x="3233525" y="424"/>
                </a:moveTo>
                <a:cubicBezTo>
                  <a:pt x="3319824" y="-4928"/>
                  <a:pt x="3405013" y="40760"/>
                  <a:pt x="3446016" y="123053"/>
                </a:cubicBezTo>
                <a:cubicBezTo>
                  <a:pt x="3500689" y="232777"/>
                  <a:pt x="3456103" y="366023"/>
                  <a:pt x="3346432" y="420668"/>
                </a:cubicBezTo>
                <a:cubicBezTo>
                  <a:pt x="3319014" y="434329"/>
                  <a:pt x="3290125" y="441785"/>
                  <a:pt x="3261358" y="443568"/>
                </a:cubicBezTo>
                <a:cubicBezTo>
                  <a:pt x="3175059" y="448921"/>
                  <a:pt x="3089870" y="403232"/>
                  <a:pt x="3048866" y="320940"/>
                </a:cubicBezTo>
                <a:cubicBezTo>
                  <a:pt x="2994194" y="211215"/>
                  <a:pt x="3038779" y="77969"/>
                  <a:pt x="3148451" y="23324"/>
                </a:cubicBezTo>
                <a:cubicBezTo>
                  <a:pt x="3175869" y="9663"/>
                  <a:pt x="3204758" y="2208"/>
                  <a:pt x="3233525" y="42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DB4B504-BF45-9877-8BF5-D379D7F26362}"/>
              </a:ext>
            </a:extLst>
          </p:cNvPr>
          <p:cNvSpPr txBox="1"/>
          <p:nvPr/>
        </p:nvSpPr>
        <p:spPr>
          <a:xfrm>
            <a:off x="8129402" y="5948168"/>
            <a:ext cx="3452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Prof. Jonas Bernardino de Lima</a:t>
            </a:r>
          </a:p>
        </p:txBody>
      </p:sp>
      <p:pic>
        <p:nvPicPr>
          <p:cNvPr id="5" name="Picture 2" descr="UNINASSAU">
            <a:extLst>
              <a:ext uri="{FF2B5EF4-FFF2-40B4-BE49-F238E27FC236}">
                <a16:creationId xmlns:a16="http://schemas.microsoft.com/office/drawing/2014/main" id="{B41C47A3-048E-9D35-A4AB-B3EB8501B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2739" y="540501"/>
            <a:ext cx="739660" cy="73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2491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Rectangle 2074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77" name="Freeform: Shape 2076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079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1" name="Rectangle 2080">
            <a:extLst>
              <a:ext uri="{FF2B5EF4-FFF2-40B4-BE49-F238E27FC236}">
                <a16:creationId xmlns:a16="http://schemas.microsoft.com/office/drawing/2014/main" id="{37C48F90-AFD5-4232-AE7D-27B956BF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83" name="Freeform: Shape 2082">
            <a:extLst>
              <a:ext uri="{FF2B5EF4-FFF2-40B4-BE49-F238E27FC236}">
                <a16:creationId xmlns:a16="http://schemas.microsoft.com/office/drawing/2014/main" id="{73C96EE1-9524-4300-BFAC-56AA55EB4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855747" y="-1"/>
            <a:ext cx="6336253" cy="6858001"/>
          </a:xfrm>
          <a:custGeom>
            <a:avLst/>
            <a:gdLst>
              <a:gd name="connsiteX0" fmla="*/ 5721063 w 6336253"/>
              <a:gd name="connsiteY0" fmla="*/ 3536635 h 6858001"/>
              <a:gd name="connsiteX1" fmla="*/ 6230651 w 6336253"/>
              <a:gd name="connsiteY1" fmla="*/ 4046223 h 6858001"/>
              <a:gd name="connsiteX2" fmla="*/ 5721063 w 6336253"/>
              <a:gd name="connsiteY2" fmla="*/ 4555811 h 6858001"/>
              <a:gd name="connsiteX3" fmla="*/ 5211475 w 6336253"/>
              <a:gd name="connsiteY3" fmla="*/ 4046223 h 6858001"/>
              <a:gd name="connsiteX4" fmla="*/ 5721063 w 6336253"/>
              <a:gd name="connsiteY4" fmla="*/ 3536635 h 6858001"/>
              <a:gd name="connsiteX5" fmla="*/ 5456902 w 6336253"/>
              <a:gd name="connsiteY5" fmla="*/ 0 h 6858001"/>
              <a:gd name="connsiteX6" fmla="*/ 6321710 w 6336253"/>
              <a:gd name="connsiteY6" fmla="*/ 0 h 6858001"/>
              <a:gd name="connsiteX7" fmla="*/ 6332019 w 6336253"/>
              <a:gd name="connsiteY7" fmla="*/ 42969 h 6858001"/>
              <a:gd name="connsiteX8" fmla="*/ 6320934 w 6336253"/>
              <a:gd name="connsiteY8" fmla="*/ 219852 h 6858001"/>
              <a:gd name="connsiteX9" fmla="*/ 5774313 w 6336253"/>
              <a:gd name="connsiteY9" fmla="*/ 535443 h 6858001"/>
              <a:gd name="connsiteX10" fmla="*/ 5444200 w 6336253"/>
              <a:gd name="connsiteY10" fmla="*/ 78052 h 6858001"/>
              <a:gd name="connsiteX11" fmla="*/ 609600 w 6336253"/>
              <a:gd name="connsiteY11" fmla="*/ 0 h 6858001"/>
              <a:gd name="connsiteX12" fmla="*/ 1171409 w 6336253"/>
              <a:gd name="connsiteY12" fmla="*/ 0 h 6858001"/>
              <a:gd name="connsiteX13" fmla="*/ 4838473 w 6336253"/>
              <a:gd name="connsiteY13" fmla="*/ 0 h 6858001"/>
              <a:gd name="connsiteX14" fmla="*/ 4830349 w 6336253"/>
              <a:gd name="connsiteY14" fmla="*/ 184996 h 6858001"/>
              <a:gd name="connsiteX15" fmla="*/ 4833376 w 6336253"/>
              <a:gd name="connsiteY15" fmla="*/ 419995 h 6858001"/>
              <a:gd name="connsiteX16" fmla="*/ 5281338 w 6336253"/>
              <a:gd name="connsiteY16" fmla="*/ 1068099 h 6858001"/>
              <a:gd name="connsiteX17" fmla="*/ 5729205 w 6336253"/>
              <a:gd name="connsiteY17" fmla="*/ 2589405 h 6858001"/>
              <a:gd name="connsiteX18" fmla="*/ 5283212 w 6336253"/>
              <a:gd name="connsiteY18" fmla="*/ 3164269 h 6858001"/>
              <a:gd name="connsiteX19" fmla="*/ 5124820 w 6336253"/>
              <a:gd name="connsiteY19" fmla="*/ 4641255 h 6858001"/>
              <a:gd name="connsiteX20" fmla="*/ 5736551 w 6336253"/>
              <a:gd name="connsiteY20" fmla="*/ 5670858 h 6858001"/>
              <a:gd name="connsiteX21" fmla="*/ 6022123 w 6336253"/>
              <a:gd name="connsiteY21" fmla="*/ 6707670 h 6858001"/>
              <a:gd name="connsiteX22" fmla="*/ 6024496 w 6336253"/>
              <a:gd name="connsiteY22" fmla="*/ 6858000 h 6858001"/>
              <a:gd name="connsiteX23" fmla="*/ 2242268 w 6336253"/>
              <a:gd name="connsiteY23" fmla="*/ 6858000 h 6858001"/>
              <a:gd name="connsiteX24" fmla="*/ 2242268 w 6336253"/>
              <a:gd name="connsiteY24" fmla="*/ 6858001 h 6858001"/>
              <a:gd name="connsiteX25" fmla="*/ 0 w 6336253"/>
              <a:gd name="connsiteY25" fmla="*/ 6858001 h 6858001"/>
              <a:gd name="connsiteX26" fmla="*/ 0 w 6336253"/>
              <a:gd name="connsiteY26" fmla="*/ 1 h 6858001"/>
              <a:gd name="connsiteX27" fmla="*/ 609600 w 6336253"/>
              <a:gd name="connsiteY27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336253" h="6858001">
                <a:moveTo>
                  <a:pt x="5721063" y="3536635"/>
                </a:moveTo>
                <a:cubicBezTo>
                  <a:pt x="6002501" y="3536635"/>
                  <a:pt x="6230651" y="3764785"/>
                  <a:pt x="6230651" y="4046223"/>
                </a:cubicBezTo>
                <a:cubicBezTo>
                  <a:pt x="6230651" y="4327661"/>
                  <a:pt x="6002501" y="4555811"/>
                  <a:pt x="5721063" y="4555811"/>
                </a:cubicBezTo>
                <a:cubicBezTo>
                  <a:pt x="5439625" y="4555811"/>
                  <a:pt x="5211475" y="4327661"/>
                  <a:pt x="5211475" y="4046223"/>
                </a:cubicBezTo>
                <a:cubicBezTo>
                  <a:pt x="5211475" y="3764785"/>
                  <a:pt x="5439625" y="3536635"/>
                  <a:pt x="5721063" y="3536635"/>
                </a:cubicBezTo>
                <a:close/>
                <a:moveTo>
                  <a:pt x="5456902" y="0"/>
                </a:moveTo>
                <a:lnTo>
                  <a:pt x="6321710" y="0"/>
                </a:lnTo>
                <a:lnTo>
                  <a:pt x="6332019" y="42969"/>
                </a:lnTo>
                <a:cubicBezTo>
                  <a:pt x="6340015" y="100391"/>
                  <a:pt x="6336884" y="160329"/>
                  <a:pt x="6320934" y="219852"/>
                </a:cubicBezTo>
                <a:cubicBezTo>
                  <a:pt x="6257137" y="457945"/>
                  <a:pt x="6012407" y="599240"/>
                  <a:pt x="5774313" y="535443"/>
                </a:cubicBezTo>
                <a:cubicBezTo>
                  <a:pt x="5565982" y="479621"/>
                  <a:pt x="5431761" y="285271"/>
                  <a:pt x="5444200" y="78052"/>
                </a:cubicBezTo>
                <a:close/>
                <a:moveTo>
                  <a:pt x="609600" y="0"/>
                </a:moveTo>
                <a:lnTo>
                  <a:pt x="1171409" y="0"/>
                </a:lnTo>
                <a:lnTo>
                  <a:pt x="4838473" y="0"/>
                </a:lnTo>
                <a:lnTo>
                  <a:pt x="4830349" y="184996"/>
                </a:lnTo>
                <a:cubicBezTo>
                  <a:pt x="4828991" y="263520"/>
                  <a:pt x="4829864" y="341910"/>
                  <a:pt x="4833376" y="419995"/>
                </a:cubicBezTo>
                <a:cubicBezTo>
                  <a:pt x="4846565" y="709488"/>
                  <a:pt x="5075226" y="891535"/>
                  <a:pt x="5281338" y="1068099"/>
                </a:cubicBezTo>
                <a:cubicBezTo>
                  <a:pt x="5795128" y="1508061"/>
                  <a:pt x="5969974" y="2032158"/>
                  <a:pt x="5729205" y="2589405"/>
                </a:cubicBezTo>
                <a:cubicBezTo>
                  <a:pt x="5635831" y="2805523"/>
                  <a:pt x="5454276" y="2993264"/>
                  <a:pt x="5283212" y="3164269"/>
                </a:cubicBezTo>
                <a:cubicBezTo>
                  <a:pt x="4824418" y="3622744"/>
                  <a:pt x="4843217" y="4154456"/>
                  <a:pt x="5124820" y="4641255"/>
                </a:cubicBezTo>
                <a:cubicBezTo>
                  <a:pt x="5325440" y="4986832"/>
                  <a:pt x="5565996" y="5311556"/>
                  <a:pt x="5736551" y="5670858"/>
                </a:cubicBezTo>
                <a:cubicBezTo>
                  <a:pt x="5902602" y="6019042"/>
                  <a:pt x="6001121" y="6366409"/>
                  <a:pt x="6022123" y="6707670"/>
                </a:cubicBezTo>
                <a:lnTo>
                  <a:pt x="6024496" y="6858000"/>
                </a:lnTo>
                <a:lnTo>
                  <a:pt x="2242268" y="6858000"/>
                </a:lnTo>
                <a:lnTo>
                  <a:pt x="2242268" y="6858001"/>
                </a:lnTo>
                <a:lnTo>
                  <a:pt x="0" y="6858001"/>
                </a:lnTo>
                <a:lnTo>
                  <a:pt x="0" y="1"/>
                </a:lnTo>
                <a:lnTo>
                  <a:pt x="60960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2BE0F8-99D0-C696-0660-A6E522B3A0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52782"/>
            <a:ext cx="5545870" cy="16585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 que é Angular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A652D7-70FF-A8F7-BC51-5BC484CA77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09600" y="2548521"/>
            <a:ext cx="6076963" cy="34706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1700" b="1" i="0" u="none" strike="noStrike" cap="none" normalizeH="0" baseline="0" dirty="0">
                <a:ln>
                  <a:noFill/>
                </a:ln>
                <a:effectLst/>
              </a:rPr>
              <a:t>Angular</a:t>
            </a:r>
            <a:r>
              <a:rPr kumimoji="0" lang="en-US" altLang="pt-BR" sz="1700" b="0" i="0" u="none" strike="noStrike" cap="none" normalizeH="0" baseline="0" dirty="0">
                <a:ln>
                  <a:noFill/>
                </a:ln>
                <a:effectLst/>
              </a:rPr>
              <a:t> é um framework de front-end para a </a:t>
            </a:r>
            <a:r>
              <a:rPr kumimoji="0" lang="en-US" altLang="pt-BR" sz="1700" b="0" i="0" u="none" strike="noStrike" cap="none" normalizeH="0" baseline="0" dirty="0" err="1">
                <a:ln>
                  <a:noFill/>
                </a:ln>
                <a:effectLst/>
              </a:rPr>
              <a:t>construção</a:t>
            </a:r>
            <a:r>
              <a:rPr kumimoji="0" lang="en-US" altLang="pt-BR" sz="1700" b="0" i="0" u="none" strike="noStrike" cap="none" normalizeH="0" baseline="0" dirty="0">
                <a:ln>
                  <a:noFill/>
                </a:ln>
                <a:effectLst/>
              </a:rPr>
              <a:t> de </a:t>
            </a:r>
            <a:r>
              <a:rPr kumimoji="0" lang="en-US" altLang="pt-BR" sz="1700" b="0" i="0" u="none" strike="noStrike" cap="none" normalizeH="0" baseline="0" dirty="0" err="1">
                <a:ln>
                  <a:noFill/>
                </a:ln>
                <a:effectLst/>
              </a:rPr>
              <a:t>aplicações</a:t>
            </a:r>
            <a:r>
              <a:rPr kumimoji="0" lang="en-US" altLang="pt-BR" sz="1700" b="0" i="0" u="none" strike="noStrike" cap="none" normalizeH="0" baseline="0" dirty="0">
                <a:ln>
                  <a:noFill/>
                </a:ln>
                <a:effectLst/>
              </a:rPr>
              <a:t> web </a:t>
            </a:r>
            <a:r>
              <a:rPr kumimoji="0" lang="en-US" altLang="pt-BR" sz="1700" b="0" i="0" u="none" strike="noStrike" cap="none" normalizeH="0" baseline="0" dirty="0" err="1">
                <a:ln>
                  <a:noFill/>
                </a:ln>
                <a:effectLst/>
              </a:rPr>
              <a:t>dinâmicas</a:t>
            </a:r>
            <a:r>
              <a:rPr kumimoji="0" lang="en-US" altLang="pt-BR" sz="17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pt-BR" sz="1700" b="0" i="0" u="none" strike="noStrike" cap="none" normalizeH="0" baseline="0" dirty="0">
              <a:ln>
                <a:noFill/>
              </a:ln>
              <a:effectLst/>
            </a:endParaRPr>
          </a:p>
          <a:p>
            <a:pPr marL="2857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0" lang="en-US" altLang="pt-BR" sz="1700" b="0" i="0" u="none" strike="noStrike" cap="none" normalizeH="0" baseline="0" dirty="0" err="1">
                <a:ln>
                  <a:noFill/>
                </a:ln>
                <a:effectLst/>
              </a:rPr>
              <a:t>Desenvolvido</a:t>
            </a:r>
            <a:r>
              <a:rPr kumimoji="0" lang="en-US" altLang="pt-BR" sz="17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700" b="0" i="0" u="none" strike="noStrike" cap="none" normalizeH="0" baseline="0" dirty="0" err="1">
                <a:ln>
                  <a:noFill/>
                </a:ln>
                <a:effectLst/>
              </a:rPr>
              <a:t>pelo</a:t>
            </a:r>
            <a:r>
              <a:rPr kumimoji="0" lang="en-US" altLang="pt-BR" sz="1700" b="0" i="0" u="none" strike="noStrike" cap="none" normalizeH="0" baseline="0" dirty="0">
                <a:ln>
                  <a:noFill/>
                </a:ln>
                <a:effectLst/>
              </a:rPr>
              <a:t> Google, é </a:t>
            </a:r>
            <a:r>
              <a:rPr kumimoji="0" lang="en-US" altLang="pt-BR" sz="1700" b="0" i="0" u="none" strike="noStrike" cap="none" normalizeH="0" baseline="0" dirty="0" err="1">
                <a:ln>
                  <a:noFill/>
                </a:ln>
                <a:effectLst/>
              </a:rPr>
              <a:t>amplamente</a:t>
            </a:r>
            <a:r>
              <a:rPr kumimoji="0" lang="en-US" altLang="pt-BR" sz="17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700" b="0" i="0" u="none" strike="noStrike" cap="none" normalizeH="0" baseline="0" dirty="0" err="1">
                <a:ln>
                  <a:noFill/>
                </a:ln>
                <a:effectLst/>
              </a:rPr>
              <a:t>utilizado</a:t>
            </a:r>
            <a:r>
              <a:rPr kumimoji="0" lang="en-US" altLang="pt-BR" sz="17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700" b="0" i="0" u="none" strike="noStrike" cap="none" normalizeH="0" baseline="0" dirty="0" err="1">
                <a:ln>
                  <a:noFill/>
                </a:ln>
                <a:effectLst/>
              </a:rPr>
              <a:t>por</a:t>
            </a:r>
            <a:r>
              <a:rPr kumimoji="0" lang="en-US" altLang="pt-BR" sz="17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700" b="0" i="0" u="none" strike="noStrike" cap="none" normalizeH="0" baseline="0" dirty="0" err="1">
                <a:ln>
                  <a:noFill/>
                </a:ln>
                <a:effectLst/>
              </a:rPr>
              <a:t>empresas</a:t>
            </a:r>
            <a:r>
              <a:rPr kumimoji="0" lang="en-US" altLang="pt-BR" sz="17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700" b="0" i="0" u="none" strike="noStrike" cap="none" normalizeH="0" baseline="0" dirty="0" err="1">
                <a:ln>
                  <a:noFill/>
                </a:ln>
                <a:effectLst/>
              </a:rPr>
              <a:t>ao</a:t>
            </a:r>
            <a:r>
              <a:rPr kumimoji="0" lang="en-US" altLang="pt-BR" sz="17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1700" b="0" i="0" u="none" strike="noStrike" cap="none" normalizeH="0" baseline="0" dirty="0" err="1">
                <a:ln>
                  <a:noFill/>
                </a:ln>
                <a:effectLst/>
              </a:rPr>
              <a:t>redor</a:t>
            </a:r>
            <a:r>
              <a:rPr kumimoji="0" lang="en-US" altLang="pt-BR" sz="1700" b="0" i="0" u="none" strike="noStrike" cap="none" normalizeH="0" baseline="0" dirty="0">
                <a:ln>
                  <a:noFill/>
                </a:ln>
                <a:effectLst/>
              </a:rPr>
              <a:t> do </a:t>
            </a:r>
            <a:r>
              <a:rPr kumimoji="0" lang="en-US" altLang="pt-BR" sz="1700" b="0" i="0" u="none" strike="noStrike" cap="none" normalizeH="0" baseline="0" dirty="0" err="1">
                <a:ln>
                  <a:noFill/>
                </a:ln>
                <a:effectLst/>
              </a:rPr>
              <a:t>mundo</a:t>
            </a:r>
            <a:r>
              <a:rPr kumimoji="0" lang="en-US" altLang="pt-BR" sz="17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br>
              <a:rPr kumimoji="0" lang="en-US" altLang="pt-BR" sz="1700" b="0" i="0" u="none" strike="noStrike" cap="none" normalizeH="0" baseline="0" dirty="0">
                <a:ln>
                  <a:noFill/>
                </a:ln>
                <a:effectLst/>
              </a:rPr>
            </a:br>
            <a:endParaRPr kumimoji="0" lang="en-US" altLang="pt-BR" sz="1700" b="0" i="0" u="none" strike="noStrike" cap="none" normalizeH="0" baseline="0" dirty="0">
              <a:ln>
                <a:noFill/>
              </a:ln>
              <a:effectLst/>
            </a:endParaRPr>
          </a:p>
          <a:p>
            <a:pPr>
              <a:lnSpc>
                <a:spcPct val="100000"/>
              </a:lnSpc>
            </a:pPr>
            <a:r>
              <a:rPr lang="en-US" sz="1700" b="1" dirty="0" err="1"/>
              <a:t>Características</a:t>
            </a:r>
            <a:r>
              <a:rPr lang="en-US" sz="1700" dirty="0"/>
              <a:t>:</a:t>
            </a:r>
          </a:p>
          <a:p>
            <a:pPr marL="2857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700" dirty="0" err="1"/>
              <a:t>Baseado</a:t>
            </a:r>
            <a:r>
              <a:rPr lang="en-US" sz="1700" dirty="0"/>
              <a:t> </a:t>
            </a:r>
            <a:r>
              <a:rPr lang="en-US" sz="1700" dirty="0" err="1"/>
              <a:t>em</a:t>
            </a:r>
            <a:r>
              <a:rPr lang="en-US" sz="1700" dirty="0"/>
              <a:t> </a:t>
            </a:r>
            <a:r>
              <a:rPr lang="en-US" sz="1700" b="1" dirty="0"/>
              <a:t>TypeScript</a:t>
            </a:r>
            <a:r>
              <a:rPr lang="en-US" sz="1700" dirty="0"/>
              <a:t>.</a:t>
            </a:r>
          </a:p>
          <a:p>
            <a:pPr marL="2857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700" b="1" dirty="0"/>
              <a:t>Component-based</a:t>
            </a:r>
            <a:r>
              <a:rPr lang="en-US" sz="1700" dirty="0"/>
              <a:t> (</a:t>
            </a:r>
            <a:r>
              <a:rPr lang="en-US" sz="1700" dirty="0" err="1"/>
              <a:t>baseado</a:t>
            </a:r>
            <a:r>
              <a:rPr lang="en-US" sz="1700" dirty="0"/>
              <a:t> </a:t>
            </a:r>
            <a:r>
              <a:rPr lang="en-US" sz="1700" dirty="0" err="1"/>
              <a:t>em</a:t>
            </a:r>
            <a:r>
              <a:rPr lang="en-US" sz="1700" dirty="0"/>
              <a:t> </a:t>
            </a:r>
            <a:r>
              <a:rPr lang="en-US" sz="1700" dirty="0" err="1"/>
              <a:t>componentes</a:t>
            </a:r>
            <a:r>
              <a:rPr lang="en-US" sz="1700" dirty="0"/>
              <a:t>).</a:t>
            </a:r>
          </a:p>
          <a:p>
            <a:pPr marL="2857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700" dirty="0" err="1"/>
              <a:t>Facilita</a:t>
            </a:r>
            <a:r>
              <a:rPr lang="en-US" sz="1700" dirty="0"/>
              <a:t> a </a:t>
            </a:r>
            <a:r>
              <a:rPr lang="en-US" sz="1700" dirty="0" err="1"/>
              <a:t>construção</a:t>
            </a:r>
            <a:r>
              <a:rPr lang="en-US" sz="1700" dirty="0"/>
              <a:t> de Single Page Applications (SPA</a:t>
            </a:r>
          </a:p>
        </p:txBody>
      </p:sp>
      <p:pic>
        <p:nvPicPr>
          <p:cNvPr id="2053" name="Picture 5" descr="Angular (@angular) / X">
            <a:extLst>
              <a:ext uri="{FF2B5EF4-FFF2-40B4-BE49-F238E27FC236}">
                <a16:creationId xmlns:a16="http://schemas.microsoft.com/office/drawing/2014/main" id="{8A8CCE0A-5ECC-061D-01FC-F33D4FE8C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93116" y="1196906"/>
            <a:ext cx="4289283" cy="428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895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FAB208-1AC5-6BC8-C89E-1F740C41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Desafios ao Criar Aplicações Sem Framework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F679A9-9089-F472-F2B7-C27B0EF68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b="1" dirty="0"/>
              <a:t>Tempo de Desenvolvimento Prolongado</a:t>
            </a:r>
            <a:r>
              <a:rPr lang="pt-BR" dirty="0"/>
              <a:t>: Criar funcionalidades básicas como roteamento e data </a:t>
            </a:r>
            <a:r>
              <a:rPr lang="pt-BR" dirty="0" err="1"/>
              <a:t>binding</a:t>
            </a:r>
            <a:r>
              <a:rPr lang="pt-BR" dirty="0"/>
              <a:t> do zero leva muito tempo.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b="1" dirty="0"/>
              <a:t>Padrões Não Consistentes</a:t>
            </a:r>
            <a:r>
              <a:rPr lang="pt-BR" dirty="0"/>
              <a:t>: Cada desenvolvedor pode ter uma abordagem diferente, o que pode gerar código desorganizado e difícil de manter.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b="1" dirty="0"/>
              <a:t>Dificuldade em Escalar</a:t>
            </a:r>
            <a:r>
              <a:rPr lang="pt-BR" dirty="0"/>
              <a:t>: Aplicações sem frameworks são mais difíceis de crescer e manter quando a complexidade aumenta.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b="1" dirty="0"/>
              <a:t>Reinvenção da Roda</a:t>
            </a:r>
            <a:r>
              <a:rPr lang="pt-BR" dirty="0"/>
              <a:t>: Sem um framework, o desenvolvedor muitas vezes recria soluções já existentes e testadas.</a:t>
            </a:r>
          </a:p>
        </p:txBody>
      </p:sp>
    </p:spTree>
    <p:extLst>
      <p:ext uri="{BB962C8B-B14F-4D97-AF65-F5344CB8AC3E}">
        <p14:creationId xmlns:p14="http://schemas.microsoft.com/office/powerpoint/2010/main" val="14302186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5A4973-2DD5-4DE6-9DC8-FA925487E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Configurando um Novo Projeto Angular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6C7CE5-AEC7-1BE7-2582-FF4E40971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Instalação </a:t>
            </a:r>
            <a:r>
              <a:rPr lang="pt-BR" dirty="0" err="1"/>
              <a:t>nodejs</a:t>
            </a:r>
            <a:endParaRPr lang="pt-BR" dirty="0"/>
          </a:p>
          <a:p>
            <a:endParaRPr lang="pt-BR" dirty="0"/>
          </a:p>
          <a:p>
            <a:r>
              <a:rPr lang="pt-BR" b="1" dirty="0"/>
              <a:t>Passo 1</a:t>
            </a:r>
            <a:r>
              <a:rPr lang="pt-BR" dirty="0"/>
              <a:t>: Instalar o Angular CLI (se ainda não estiver instalado).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dirty="0" err="1"/>
              <a:t>npm</a:t>
            </a:r>
            <a:r>
              <a:rPr lang="pt-BR" dirty="0"/>
              <a:t> </a:t>
            </a:r>
            <a:r>
              <a:rPr lang="pt-BR" dirty="0" err="1"/>
              <a:t>install</a:t>
            </a:r>
            <a:r>
              <a:rPr lang="pt-BR" dirty="0"/>
              <a:t> -g @angular/cli</a:t>
            </a:r>
          </a:p>
          <a:p>
            <a:endParaRPr lang="pt-BR" dirty="0"/>
          </a:p>
          <a:p>
            <a:r>
              <a:rPr lang="pt-BR" b="1" dirty="0"/>
              <a:t>Passo 2</a:t>
            </a:r>
            <a:r>
              <a:rPr lang="pt-BR" dirty="0"/>
              <a:t>: Criar um novo projeto</a:t>
            </a:r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r>
              <a:rPr lang="pt-BR" dirty="0" err="1"/>
              <a:t>ng</a:t>
            </a:r>
            <a:r>
              <a:rPr lang="pt-BR" dirty="0"/>
              <a:t> new meu-projeto-angular</a:t>
            </a:r>
          </a:p>
          <a:p>
            <a:endParaRPr lang="pt-BR" dirty="0"/>
          </a:p>
          <a:p>
            <a:r>
              <a:rPr lang="pt-BR" b="1" dirty="0"/>
              <a:t>Passo 3</a:t>
            </a:r>
            <a:r>
              <a:rPr lang="pt-BR" dirty="0"/>
              <a:t>: Executar a aplicação.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dirty="0" err="1"/>
              <a:t>cd</a:t>
            </a:r>
            <a:r>
              <a:rPr lang="pt-BR" dirty="0"/>
              <a:t> meu-projeto-angular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dirty="0" err="1"/>
              <a:t>ng</a:t>
            </a:r>
            <a:r>
              <a:rPr lang="pt-BR" dirty="0"/>
              <a:t> serve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7141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7BC1E0-1C8D-47CB-B48A-D3D0D2EF0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AD1C04B-04EF-43BA-B2AB-6F52AF8B9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1"/>
            <a:ext cx="6939937" cy="6453893"/>
          </a:xfrm>
          <a:custGeom>
            <a:avLst/>
            <a:gdLst>
              <a:gd name="connsiteX0" fmla="*/ 111814 w 4695433"/>
              <a:gd name="connsiteY0" fmla="*/ 3049004 h 4582435"/>
              <a:gd name="connsiteX1" fmla="*/ 297409 w 4695433"/>
              <a:gd name="connsiteY1" fmla="*/ 3091902 h 4582435"/>
              <a:gd name="connsiteX2" fmla="*/ 416673 w 4695433"/>
              <a:gd name="connsiteY2" fmla="*/ 3537003 h 4582435"/>
              <a:gd name="connsiteX3" fmla="*/ 31751 w 4695433"/>
              <a:gd name="connsiteY3" fmla="*/ 3683368 h 4582435"/>
              <a:gd name="connsiteX4" fmla="*/ 0 w 4695433"/>
              <a:gd name="connsiteY4" fmla="*/ 3669070 h 4582435"/>
              <a:gd name="connsiteX5" fmla="*/ 0 w 4695433"/>
              <a:gd name="connsiteY5" fmla="*/ 3079852 h 4582435"/>
              <a:gd name="connsiteX6" fmla="*/ 35156 w 4695433"/>
              <a:gd name="connsiteY6" fmla="*/ 3063756 h 4582435"/>
              <a:gd name="connsiteX7" fmla="*/ 111814 w 4695433"/>
              <a:gd name="connsiteY7" fmla="*/ 3049004 h 4582435"/>
              <a:gd name="connsiteX8" fmla="*/ 0 w 4695433"/>
              <a:gd name="connsiteY8" fmla="*/ 0 h 4582435"/>
              <a:gd name="connsiteX9" fmla="*/ 4695433 w 4695433"/>
              <a:gd name="connsiteY9" fmla="*/ 0 h 4582435"/>
              <a:gd name="connsiteX10" fmla="*/ 4663044 w 4695433"/>
              <a:gd name="connsiteY10" fmla="*/ 68762 h 4582435"/>
              <a:gd name="connsiteX11" fmla="*/ 4571319 w 4695433"/>
              <a:gd name="connsiteY11" fmla="*/ 201411 h 4582435"/>
              <a:gd name="connsiteX12" fmla="*/ 4099777 w 4695433"/>
              <a:gd name="connsiteY12" fmla="*/ 504347 h 4582435"/>
              <a:gd name="connsiteX13" fmla="*/ 3811860 w 4695433"/>
              <a:gd name="connsiteY13" fmla="*/ 1682068 h 4582435"/>
              <a:gd name="connsiteX14" fmla="*/ 3167043 w 4695433"/>
              <a:gd name="connsiteY14" fmla="*/ 4278500 h 4582435"/>
              <a:gd name="connsiteX15" fmla="*/ 2640955 w 4695433"/>
              <a:gd name="connsiteY15" fmla="*/ 4485587 h 4582435"/>
              <a:gd name="connsiteX16" fmla="*/ 1495663 w 4695433"/>
              <a:gd name="connsiteY16" fmla="*/ 4435228 h 4582435"/>
              <a:gd name="connsiteX17" fmla="*/ 1020813 w 4695433"/>
              <a:gd name="connsiteY17" fmla="*/ 3838149 h 4582435"/>
              <a:gd name="connsiteX18" fmla="*/ 626404 w 4695433"/>
              <a:gd name="connsiteY18" fmla="*/ 3045292 h 4582435"/>
              <a:gd name="connsiteX19" fmla="*/ 147061 w 4695433"/>
              <a:gd name="connsiteY19" fmla="*/ 2765401 h 4582435"/>
              <a:gd name="connsiteX20" fmla="*/ 0 w 4695433"/>
              <a:gd name="connsiteY20" fmla="*/ 2736690 h 4582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695433" h="4582435">
                <a:moveTo>
                  <a:pt x="111814" y="3049004"/>
                </a:moveTo>
                <a:cubicBezTo>
                  <a:pt x="174417" y="3044581"/>
                  <a:pt x="238967" y="3058160"/>
                  <a:pt x="297409" y="3091902"/>
                </a:cubicBezTo>
                <a:cubicBezTo>
                  <a:pt x="453255" y="3181878"/>
                  <a:pt x="506651" y="3381158"/>
                  <a:pt x="416673" y="3537003"/>
                </a:cubicBezTo>
                <a:cubicBezTo>
                  <a:pt x="337943" y="3673368"/>
                  <a:pt x="175529" y="3731295"/>
                  <a:pt x="31751" y="3683368"/>
                </a:cubicBezTo>
                <a:lnTo>
                  <a:pt x="0" y="3669070"/>
                </a:lnTo>
                <a:lnTo>
                  <a:pt x="0" y="3079852"/>
                </a:lnTo>
                <a:lnTo>
                  <a:pt x="35156" y="3063756"/>
                </a:lnTo>
                <a:cubicBezTo>
                  <a:pt x="59982" y="3055817"/>
                  <a:pt x="85729" y="3050848"/>
                  <a:pt x="111814" y="3049004"/>
                </a:cubicBezTo>
                <a:close/>
                <a:moveTo>
                  <a:pt x="0" y="0"/>
                </a:moveTo>
                <a:lnTo>
                  <a:pt x="4695433" y="0"/>
                </a:lnTo>
                <a:lnTo>
                  <a:pt x="4663044" y="68762"/>
                </a:lnTo>
                <a:cubicBezTo>
                  <a:pt x="4636274" y="118744"/>
                  <a:pt x="4605467" y="163546"/>
                  <a:pt x="4571319" y="201411"/>
                </a:cubicBezTo>
                <a:cubicBezTo>
                  <a:pt x="4449886" y="335755"/>
                  <a:pt x="4268949" y="426743"/>
                  <a:pt x="4099777" y="504347"/>
                </a:cubicBezTo>
                <a:cubicBezTo>
                  <a:pt x="3604896" y="731933"/>
                  <a:pt x="3591784" y="1317548"/>
                  <a:pt x="3811860" y="1682068"/>
                </a:cubicBezTo>
                <a:cubicBezTo>
                  <a:pt x="4454413" y="2741008"/>
                  <a:pt x="4084752" y="3706193"/>
                  <a:pt x="3167043" y="4278500"/>
                </a:cubicBezTo>
                <a:cubicBezTo>
                  <a:pt x="3009772" y="4376529"/>
                  <a:pt x="2817700" y="4417630"/>
                  <a:pt x="2640955" y="4485587"/>
                </a:cubicBezTo>
                <a:cubicBezTo>
                  <a:pt x="2250950" y="4603206"/>
                  <a:pt x="1866703" y="4642930"/>
                  <a:pt x="1495663" y="4435228"/>
                </a:cubicBezTo>
                <a:cubicBezTo>
                  <a:pt x="1259049" y="4302759"/>
                  <a:pt x="1121911" y="4090107"/>
                  <a:pt x="1020813" y="3838149"/>
                </a:cubicBezTo>
                <a:cubicBezTo>
                  <a:pt x="910679" y="3564211"/>
                  <a:pt x="784571" y="3292847"/>
                  <a:pt x="626404" y="3045292"/>
                </a:cubicBezTo>
                <a:cubicBezTo>
                  <a:pt x="516355" y="2873268"/>
                  <a:pt x="336073" y="2807363"/>
                  <a:pt x="147061" y="2765401"/>
                </a:cubicBezTo>
                <a:lnTo>
                  <a:pt x="0" y="27366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A5FCB1-8FC8-F6F0-9B11-D73E4E7E9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3960"/>
            <a:ext cx="4298417" cy="25393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Lifecycle de uma aplicação web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CB8302C-52D7-9BAF-7C73-FC8E96ACCF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35424" y="0"/>
            <a:ext cx="61379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552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567127-BDD7-CF6B-91CF-C9D458EB7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Diferença entre aplicações Server </a:t>
            </a:r>
            <a:r>
              <a:rPr lang="pt-BR" dirty="0" err="1"/>
              <a:t>Side</a:t>
            </a:r>
            <a:r>
              <a:rPr lang="pt-BR" dirty="0"/>
              <a:t> e </a:t>
            </a:r>
            <a:r>
              <a:rPr lang="pt-BR" dirty="0" err="1"/>
              <a:t>Client</a:t>
            </a:r>
            <a:r>
              <a:rPr lang="pt-BR" dirty="0"/>
              <a:t> </a:t>
            </a:r>
            <a:r>
              <a:rPr lang="pt-BR" dirty="0" err="1"/>
              <a:t>Side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66C068C-65CF-201B-5674-F6246C44E7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2555146"/>
            <a:ext cx="10972800" cy="3138358"/>
          </a:xfrm>
        </p:spPr>
      </p:pic>
    </p:spTree>
    <p:extLst>
      <p:ext uri="{BB962C8B-B14F-4D97-AF65-F5344CB8AC3E}">
        <p14:creationId xmlns:p14="http://schemas.microsoft.com/office/powerpoint/2010/main" val="1408389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6C5F3-4EAC-473B-BD72-1219E833D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2231725-D083-4E0F-9428-1C2635189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2140699"/>
            <a:ext cx="12192000" cy="4717301"/>
          </a:xfrm>
          <a:custGeom>
            <a:avLst/>
            <a:gdLst>
              <a:gd name="connsiteX0" fmla="*/ 8930642 w 12192000"/>
              <a:gd name="connsiteY0" fmla="*/ 4273734 h 4717301"/>
              <a:gd name="connsiteX1" fmla="*/ 9143134 w 12192000"/>
              <a:gd name="connsiteY1" fmla="*/ 4396362 h 4717301"/>
              <a:gd name="connsiteX2" fmla="*/ 9043549 w 12192000"/>
              <a:gd name="connsiteY2" fmla="*/ 4693978 h 4717301"/>
              <a:gd name="connsiteX3" fmla="*/ 8745984 w 12192000"/>
              <a:gd name="connsiteY3" fmla="*/ 4594249 h 4717301"/>
              <a:gd name="connsiteX4" fmla="*/ 8845568 w 12192000"/>
              <a:gd name="connsiteY4" fmla="*/ 4296634 h 4717301"/>
              <a:gd name="connsiteX5" fmla="*/ 8930642 w 12192000"/>
              <a:gd name="connsiteY5" fmla="*/ 4273734 h 4717301"/>
              <a:gd name="connsiteX6" fmla="*/ 9842642 w 12192000"/>
              <a:gd name="connsiteY6" fmla="*/ 3718743 h 4717301"/>
              <a:gd name="connsiteX7" fmla="*/ 10272210 w 12192000"/>
              <a:gd name="connsiteY7" fmla="*/ 3966645 h 4717301"/>
              <a:gd name="connsiteX8" fmla="*/ 10070896 w 12192000"/>
              <a:gd name="connsiteY8" fmla="*/ 4568292 h 4717301"/>
              <a:gd name="connsiteX9" fmla="*/ 9469346 w 12192000"/>
              <a:gd name="connsiteY9" fmla="*/ 4366686 h 4717301"/>
              <a:gd name="connsiteX10" fmla="*/ 9670660 w 12192000"/>
              <a:gd name="connsiteY10" fmla="*/ 3765038 h 4717301"/>
              <a:gd name="connsiteX11" fmla="*/ 9842642 w 12192000"/>
              <a:gd name="connsiteY11" fmla="*/ 3718743 h 4717301"/>
              <a:gd name="connsiteX12" fmla="*/ 0 w 12192000"/>
              <a:gd name="connsiteY12" fmla="*/ 0 h 4717301"/>
              <a:gd name="connsiteX13" fmla="*/ 12192000 w 12192000"/>
              <a:gd name="connsiteY13" fmla="*/ 0 h 4717301"/>
              <a:gd name="connsiteX14" fmla="*/ 12192000 w 12192000"/>
              <a:gd name="connsiteY14" fmla="*/ 3369891 h 4717301"/>
              <a:gd name="connsiteX15" fmla="*/ 12124015 w 12192000"/>
              <a:gd name="connsiteY15" fmla="*/ 3410713 h 4717301"/>
              <a:gd name="connsiteX16" fmla="*/ 11077457 w 12192000"/>
              <a:gd name="connsiteY16" fmla="*/ 3501725 h 4717301"/>
              <a:gd name="connsiteX17" fmla="*/ 9867246 w 12192000"/>
              <a:gd name="connsiteY17" fmla="*/ 3351592 h 4717301"/>
              <a:gd name="connsiteX18" fmla="*/ 8994802 w 12192000"/>
              <a:gd name="connsiteY18" fmla="*/ 3878378 h 4717301"/>
              <a:gd name="connsiteX19" fmla="*/ 6994655 w 12192000"/>
              <a:gd name="connsiteY19" fmla="*/ 4335637 h 4717301"/>
              <a:gd name="connsiteX20" fmla="*/ 6287534 w 12192000"/>
              <a:gd name="connsiteY20" fmla="*/ 3714199 h 4717301"/>
              <a:gd name="connsiteX21" fmla="*/ 4392596 w 12192000"/>
              <a:gd name="connsiteY21" fmla="*/ 3392344 h 4717301"/>
              <a:gd name="connsiteX22" fmla="*/ 3014500 w 12192000"/>
              <a:gd name="connsiteY22" fmla="*/ 4100222 h 4717301"/>
              <a:gd name="connsiteX23" fmla="*/ 86414 w 12192000"/>
              <a:gd name="connsiteY23" fmla="*/ 3903305 h 4717301"/>
              <a:gd name="connsiteX24" fmla="*/ 0 w 12192000"/>
              <a:gd name="connsiteY24" fmla="*/ 3840566 h 471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2000" h="4717301">
                <a:moveTo>
                  <a:pt x="8930642" y="4273734"/>
                </a:moveTo>
                <a:cubicBezTo>
                  <a:pt x="9016941" y="4268381"/>
                  <a:pt x="9102130" y="4314070"/>
                  <a:pt x="9143134" y="4396362"/>
                </a:cubicBezTo>
                <a:cubicBezTo>
                  <a:pt x="9197806" y="4506087"/>
                  <a:pt x="9153221" y="4639333"/>
                  <a:pt x="9043549" y="4693978"/>
                </a:cubicBezTo>
                <a:cubicBezTo>
                  <a:pt x="8933879" y="4748622"/>
                  <a:pt x="8800655" y="4703973"/>
                  <a:pt x="8745984" y="4594249"/>
                </a:cubicBezTo>
                <a:cubicBezTo>
                  <a:pt x="8691311" y="4484525"/>
                  <a:pt x="8735897" y="4351279"/>
                  <a:pt x="8845568" y="4296634"/>
                </a:cubicBezTo>
                <a:cubicBezTo>
                  <a:pt x="8872986" y="4282973"/>
                  <a:pt x="8901875" y="4275517"/>
                  <a:pt x="8930642" y="4273734"/>
                </a:cubicBezTo>
                <a:close/>
                <a:moveTo>
                  <a:pt x="9842642" y="3718743"/>
                </a:moveTo>
                <a:cubicBezTo>
                  <a:pt x="10017101" y="3707923"/>
                  <a:pt x="10189318" y="3800286"/>
                  <a:pt x="10272210" y="3966645"/>
                </a:cubicBezTo>
                <a:cubicBezTo>
                  <a:pt x="10382732" y="4188458"/>
                  <a:pt x="10292600" y="4457825"/>
                  <a:pt x="10070896" y="4568292"/>
                </a:cubicBezTo>
                <a:cubicBezTo>
                  <a:pt x="9849191" y="4678760"/>
                  <a:pt x="9579867" y="4588498"/>
                  <a:pt x="9469346" y="4366686"/>
                </a:cubicBezTo>
                <a:cubicBezTo>
                  <a:pt x="9358824" y="4144873"/>
                  <a:pt x="9448956" y="3875506"/>
                  <a:pt x="9670660" y="3765038"/>
                </a:cubicBezTo>
                <a:cubicBezTo>
                  <a:pt x="9726087" y="3737421"/>
                  <a:pt x="9784490" y="3722349"/>
                  <a:pt x="9842642" y="371874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369891"/>
                </a:lnTo>
                <a:lnTo>
                  <a:pt x="12124015" y="3410713"/>
                </a:lnTo>
                <a:cubicBezTo>
                  <a:pt x="11792041" y="3581538"/>
                  <a:pt x="11443617" y="3577252"/>
                  <a:pt x="11077457" y="3501725"/>
                </a:cubicBezTo>
                <a:cubicBezTo>
                  <a:pt x="10679189" y="3419860"/>
                  <a:pt x="10271734" y="3358281"/>
                  <a:pt x="9867246" y="3351592"/>
                </a:cubicBezTo>
                <a:cubicBezTo>
                  <a:pt x="9492336" y="3345611"/>
                  <a:pt x="9239136" y="3626329"/>
                  <a:pt x="8994802" y="3878378"/>
                </a:cubicBezTo>
                <a:cubicBezTo>
                  <a:pt x="8385954" y="4506678"/>
                  <a:pt x="7695268" y="4690742"/>
                  <a:pt x="6994655" y="4335637"/>
                </a:cubicBezTo>
                <a:cubicBezTo>
                  <a:pt x="6722938" y="4197922"/>
                  <a:pt x="6494843" y="3948626"/>
                  <a:pt x="6287534" y="3714199"/>
                </a:cubicBezTo>
                <a:cubicBezTo>
                  <a:pt x="5731733" y="3085491"/>
                  <a:pt x="5043559" y="3067499"/>
                  <a:pt x="4392596" y="3392344"/>
                </a:cubicBezTo>
                <a:cubicBezTo>
                  <a:pt x="3930423" y="3623867"/>
                  <a:pt x="3492022" y="3908604"/>
                  <a:pt x="3014500" y="4100222"/>
                </a:cubicBezTo>
                <a:cubicBezTo>
                  <a:pt x="1977820" y="4518409"/>
                  <a:pt x="973242" y="4499486"/>
                  <a:pt x="86414" y="3903305"/>
                </a:cubicBezTo>
                <a:lnTo>
                  <a:pt x="0" y="384056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163C46-D6A3-469D-1DFB-B7F09908D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446390"/>
          </a:xfrm>
        </p:spPr>
        <p:txBody>
          <a:bodyPr>
            <a:normAutofit/>
          </a:bodyPr>
          <a:lstStyle/>
          <a:p>
            <a:r>
              <a:rPr lang="pt-BR" dirty="0"/>
              <a:t>Principais Recursos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C44E141-EFCF-45AE-DD85-517A58F22A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549314"/>
              </p:ext>
            </p:extLst>
          </p:nvPr>
        </p:nvGraphicFramePr>
        <p:xfrm>
          <a:off x="609600" y="2923750"/>
          <a:ext cx="10972800" cy="3218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1093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27">
            <a:extLst>
              <a:ext uri="{FF2B5EF4-FFF2-40B4-BE49-F238E27FC236}">
                <a16:creationId xmlns:a16="http://schemas.microsoft.com/office/drawing/2014/main" id="{68988800-4054-4E60-A352-60CF604AB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: Shape 29">
            <a:extLst>
              <a:ext uri="{FF2B5EF4-FFF2-40B4-BE49-F238E27FC236}">
                <a16:creationId xmlns:a16="http://schemas.microsoft.com/office/drawing/2014/main" id="{01FB661E-0D75-43BF-813D-0FBD5093E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317625" cy="6840668"/>
          </a:xfrm>
          <a:custGeom>
            <a:avLst/>
            <a:gdLst>
              <a:gd name="connsiteX0" fmla="*/ 4958378 w 6317625"/>
              <a:gd name="connsiteY0" fmla="*/ 6031137 h 6840668"/>
              <a:gd name="connsiteX1" fmla="*/ 5305315 w 6317625"/>
              <a:gd name="connsiteY1" fmla="*/ 6282257 h 6840668"/>
              <a:gd name="connsiteX2" fmla="*/ 5065129 w 6317625"/>
              <a:gd name="connsiteY2" fmla="*/ 6696958 h 6840668"/>
              <a:gd name="connsiteX3" fmla="*/ 4650427 w 6317625"/>
              <a:gd name="connsiteY3" fmla="*/ 6456771 h 6840668"/>
              <a:gd name="connsiteX4" fmla="*/ 4890615 w 6317625"/>
              <a:gd name="connsiteY4" fmla="*/ 6042071 h 6840668"/>
              <a:gd name="connsiteX5" fmla="*/ 4958378 w 6317625"/>
              <a:gd name="connsiteY5" fmla="*/ 6031137 h 6840668"/>
              <a:gd name="connsiteX6" fmla="*/ 892226 w 6317625"/>
              <a:gd name="connsiteY6" fmla="*/ 3293470 h 6840668"/>
              <a:gd name="connsiteX7" fmla="*/ 1475080 w 6317625"/>
              <a:gd name="connsiteY7" fmla="*/ 3715351 h 6840668"/>
              <a:gd name="connsiteX8" fmla="*/ 1071567 w 6317625"/>
              <a:gd name="connsiteY8" fmla="*/ 4412048 h 6840668"/>
              <a:gd name="connsiteX9" fmla="*/ 374869 w 6317625"/>
              <a:gd name="connsiteY9" fmla="*/ 4008535 h 6840668"/>
              <a:gd name="connsiteX10" fmla="*/ 778382 w 6317625"/>
              <a:gd name="connsiteY10" fmla="*/ 3311837 h 6840668"/>
              <a:gd name="connsiteX11" fmla="*/ 892226 w 6317625"/>
              <a:gd name="connsiteY11" fmla="*/ 3293470 h 6840668"/>
              <a:gd name="connsiteX12" fmla="*/ 1515375 w 6317625"/>
              <a:gd name="connsiteY12" fmla="*/ 663501 h 6840668"/>
              <a:gd name="connsiteX13" fmla="*/ 1862311 w 6317625"/>
              <a:gd name="connsiteY13" fmla="*/ 914620 h 6840668"/>
              <a:gd name="connsiteX14" fmla="*/ 1622124 w 6317625"/>
              <a:gd name="connsiteY14" fmla="*/ 1329322 h 6840668"/>
              <a:gd name="connsiteX15" fmla="*/ 1207424 w 6317625"/>
              <a:gd name="connsiteY15" fmla="*/ 1089135 h 6840668"/>
              <a:gd name="connsiteX16" fmla="*/ 1447610 w 6317625"/>
              <a:gd name="connsiteY16" fmla="*/ 674434 h 6840668"/>
              <a:gd name="connsiteX17" fmla="*/ 1515375 w 6317625"/>
              <a:gd name="connsiteY17" fmla="*/ 663501 h 6840668"/>
              <a:gd name="connsiteX18" fmla="*/ 2542954 w 6317625"/>
              <a:gd name="connsiteY18" fmla="*/ 0 h 6840668"/>
              <a:gd name="connsiteX19" fmla="*/ 6317625 w 6317625"/>
              <a:gd name="connsiteY19" fmla="*/ 0 h 6840668"/>
              <a:gd name="connsiteX20" fmla="*/ 6317625 w 6317625"/>
              <a:gd name="connsiteY20" fmla="*/ 6840668 h 6840668"/>
              <a:gd name="connsiteX21" fmla="*/ 6230037 w 6317625"/>
              <a:gd name="connsiteY21" fmla="*/ 6814791 h 6840668"/>
              <a:gd name="connsiteX22" fmla="*/ 5013461 w 6317625"/>
              <a:gd name="connsiteY22" fmla="*/ 5538903 h 6840668"/>
              <a:gd name="connsiteX23" fmla="*/ 3720873 w 6317625"/>
              <a:gd name="connsiteY23" fmla="*/ 6063409 h 6840668"/>
              <a:gd name="connsiteX24" fmla="*/ 2775987 w 6317625"/>
              <a:gd name="connsiteY24" fmla="*/ 5162980 h 6840668"/>
              <a:gd name="connsiteX25" fmla="*/ 2210002 w 6317625"/>
              <a:gd name="connsiteY25" fmla="*/ 5455137 h 6840668"/>
              <a:gd name="connsiteX26" fmla="*/ 1437015 w 6317625"/>
              <a:gd name="connsiteY26" fmla="*/ 6401298 h 6840668"/>
              <a:gd name="connsiteX27" fmla="*/ 75055 w 6317625"/>
              <a:gd name="connsiteY27" fmla="*/ 6031719 h 6840668"/>
              <a:gd name="connsiteX28" fmla="*/ 406869 w 6317625"/>
              <a:gd name="connsiteY28" fmla="*/ 4883188 h 6840668"/>
              <a:gd name="connsiteX29" fmla="*/ 1425737 w 6317625"/>
              <a:gd name="connsiteY29" fmla="*/ 4614510 h 6840668"/>
              <a:gd name="connsiteX30" fmla="*/ 2401798 w 6317625"/>
              <a:gd name="connsiteY30" fmla="*/ 3834988 h 6840668"/>
              <a:gd name="connsiteX31" fmla="*/ 1823833 w 6317625"/>
              <a:gd name="connsiteY31" fmla="*/ 3299773 h 6840668"/>
              <a:gd name="connsiteX32" fmla="*/ 964802 w 6317625"/>
              <a:gd name="connsiteY32" fmla="*/ 2659918 h 6840668"/>
              <a:gd name="connsiteX33" fmla="*/ 1218949 w 6317625"/>
              <a:gd name="connsiteY33" fmla="*/ 1977364 h 6840668"/>
              <a:gd name="connsiteX34" fmla="*/ 2387241 w 6317625"/>
              <a:gd name="connsiteY34" fmla="*/ 1909455 h 6840668"/>
              <a:gd name="connsiteX35" fmla="*/ 2947668 w 6317625"/>
              <a:gd name="connsiteY35" fmla="*/ 1386658 h 6840668"/>
              <a:gd name="connsiteX36" fmla="*/ 2498714 w 6317625"/>
              <a:gd name="connsiteY36" fmla="*/ 259434 h 6840668"/>
              <a:gd name="connsiteX37" fmla="*/ 2511421 w 6317625"/>
              <a:gd name="connsiteY37" fmla="*/ 121590 h 6840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6317625" h="6840668">
                <a:moveTo>
                  <a:pt x="4958378" y="6031137"/>
                </a:moveTo>
                <a:cubicBezTo>
                  <a:pt x="5115727" y="6021909"/>
                  <a:pt x="5263149" y="6124019"/>
                  <a:pt x="5305315" y="6282257"/>
                </a:cubicBezTo>
                <a:cubicBezTo>
                  <a:pt x="5353507" y="6463099"/>
                  <a:pt x="5245971" y="6648768"/>
                  <a:pt x="5065129" y="6696958"/>
                </a:cubicBezTo>
                <a:cubicBezTo>
                  <a:pt x="4884289" y="6745149"/>
                  <a:pt x="4698617" y="6637614"/>
                  <a:pt x="4650427" y="6456771"/>
                </a:cubicBezTo>
                <a:cubicBezTo>
                  <a:pt x="4602235" y="6275928"/>
                  <a:pt x="4709771" y="6090262"/>
                  <a:pt x="4890615" y="6042071"/>
                </a:cubicBezTo>
                <a:cubicBezTo>
                  <a:pt x="4913219" y="6036047"/>
                  <a:pt x="4935901" y="6032455"/>
                  <a:pt x="4958378" y="6031137"/>
                </a:cubicBezTo>
                <a:close/>
                <a:moveTo>
                  <a:pt x="892226" y="3293470"/>
                </a:moveTo>
                <a:cubicBezTo>
                  <a:pt x="1156570" y="3277966"/>
                  <a:pt x="1404240" y="3449513"/>
                  <a:pt x="1475080" y="3715351"/>
                </a:cubicBezTo>
                <a:cubicBezTo>
                  <a:pt x="1556041" y="4019167"/>
                  <a:pt x="1375383" y="4331088"/>
                  <a:pt x="1071567" y="4412048"/>
                </a:cubicBezTo>
                <a:cubicBezTo>
                  <a:pt x="767753" y="4493009"/>
                  <a:pt x="455831" y="4312351"/>
                  <a:pt x="374869" y="4008535"/>
                </a:cubicBezTo>
                <a:cubicBezTo>
                  <a:pt x="293908" y="3704721"/>
                  <a:pt x="474567" y="3392798"/>
                  <a:pt x="778382" y="3311837"/>
                </a:cubicBezTo>
                <a:cubicBezTo>
                  <a:pt x="816360" y="3301718"/>
                  <a:pt x="854463" y="3295686"/>
                  <a:pt x="892226" y="3293470"/>
                </a:cubicBezTo>
                <a:close/>
                <a:moveTo>
                  <a:pt x="1515375" y="663501"/>
                </a:moveTo>
                <a:cubicBezTo>
                  <a:pt x="1672721" y="654272"/>
                  <a:pt x="1820145" y="756383"/>
                  <a:pt x="1862311" y="914620"/>
                </a:cubicBezTo>
                <a:cubicBezTo>
                  <a:pt x="1910502" y="1095462"/>
                  <a:pt x="1802968" y="1281132"/>
                  <a:pt x="1622124" y="1329322"/>
                </a:cubicBezTo>
                <a:cubicBezTo>
                  <a:pt x="1441283" y="1377513"/>
                  <a:pt x="1255615" y="1269977"/>
                  <a:pt x="1207424" y="1089135"/>
                </a:cubicBezTo>
                <a:cubicBezTo>
                  <a:pt x="1159233" y="908294"/>
                  <a:pt x="1266769" y="722625"/>
                  <a:pt x="1447610" y="674434"/>
                </a:cubicBezTo>
                <a:cubicBezTo>
                  <a:pt x="1470217" y="668411"/>
                  <a:pt x="1492896" y="664821"/>
                  <a:pt x="1515375" y="663501"/>
                </a:cubicBezTo>
                <a:close/>
                <a:moveTo>
                  <a:pt x="2542954" y="0"/>
                </a:moveTo>
                <a:lnTo>
                  <a:pt x="6317625" y="0"/>
                </a:lnTo>
                <a:lnTo>
                  <a:pt x="6317625" y="6840668"/>
                </a:lnTo>
                <a:lnTo>
                  <a:pt x="6230037" y="6814791"/>
                </a:lnTo>
                <a:cubicBezTo>
                  <a:pt x="5511511" y="6546277"/>
                  <a:pt x="5563886" y="5634137"/>
                  <a:pt x="5013461" y="5538903"/>
                </a:cubicBezTo>
                <a:cubicBezTo>
                  <a:pt x="4504461" y="5450825"/>
                  <a:pt x="4212037" y="6187406"/>
                  <a:pt x="3720873" y="6063409"/>
                </a:cubicBezTo>
                <a:cubicBezTo>
                  <a:pt x="3249852" y="5944482"/>
                  <a:pt x="3223909" y="5195131"/>
                  <a:pt x="2775987" y="5162980"/>
                </a:cubicBezTo>
                <a:cubicBezTo>
                  <a:pt x="2577088" y="5148695"/>
                  <a:pt x="2416139" y="5282749"/>
                  <a:pt x="2210002" y="5455137"/>
                </a:cubicBezTo>
                <a:cubicBezTo>
                  <a:pt x="1759503" y="5831872"/>
                  <a:pt x="1735837" y="6203943"/>
                  <a:pt x="1437015" y="6401298"/>
                </a:cubicBezTo>
                <a:cubicBezTo>
                  <a:pt x="1022137" y="6675287"/>
                  <a:pt x="277340" y="6489917"/>
                  <a:pt x="75055" y="6031719"/>
                </a:cubicBezTo>
                <a:cubicBezTo>
                  <a:pt x="-100071" y="5635034"/>
                  <a:pt x="39649" y="5119308"/>
                  <a:pt x="406869" y="4883188"/>
                </a:cubicBezTo>
                <a:cubicBezTo>
                  <a:pt x="668038" y="4715275"/>
                  <a:pt x="978899" y="4781854"/>
                  <a:pt x="1425737" y="4614510"/>
                </a:cubicBezTo>
                <a:cubicBezTo>
                  <a:pt x="1483018" y="4593066"/>
                  <a:pt x="2421509" y="4233274"/>
                  <a:pt x="2401798" y="3834988"/>
                </a:cubicBezTo>
                <a:cubicBezTo>
                  <a:pt x="2389953" y="3595533"/>
                  <a:pt x="2054344" y="3420191"/>
                  <a:pt x="1823833" y="3299773"/>
                </a:cubicBezTo>
                <a:cubicBezTo>
                  <a:pt x="1207509" y="2977771"/>
                  <a:pt x="1033713" y="2885600"/>
                  <a:pt x="964802" y="2659918"/>
                </a:cubicBezTo>
                <a:cubicBezTo>
                  <a:pt x="895511" y="2432959"/>
                  <a:pt x="1010317" y="2120581"/>
                  <a:pt x="1218949" y="1977364"/>
                </a:cubicBezTo>
                <a:cubicBezTo>
                  <a:pt x="1546835" y="1752277"/>
                  <a:pt x="1872903" y="2105427"/>
                  <a:pt x="2387241" y="1909455"/>
                </a:cubicBezTo>
                <a:cubicBezTo>
                  <a:pt x="2455367" y="1883513"/>
                  <a:pt x="2884207" y="1718365"/>
                  <a:pt x="2947668" y="1386658"/>
                </a:cubicBezTo>
                <a:cubicBezTo>
                  <a:pt x="3028995" y="961696"/>
                  <a:pt x="2497170" y="773992"/>
                  <a:pt x="2498714" y="259434"/>
                </a:cubicBezTo>
                <a:cubicBezTo>
                  <a:pt x="2498850" y="213850"/>
                  <a:pt x="2503216" y="167716"/>
                  <a:pt x="2511421" y="12159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ED4441-DB7A-1299-6A1D-82EF2DB38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136" y="276099"/>
            <a:ext cx="5486400" cy="519852"/>
          </a:xfrm>
        </p:spPr>
        <p:txBody>
          <a:bodyPr>
            <a:normAutofit fontScale="90000"/>
          </a:bodyPr>
          <a:lstStyle/>
          <a:p>
            <a:r>
              <a:rPr lang="pt-BR" dirty="0"/>
              <a:t>Estrutura</a:t>
            </a:r>
          </a:p>
        </p:txBody>
      </p:sp>
      <p:sp>
        <p:nvSpPr>
          <p:cNvPr id="21" name="Content Placeholder 8">
            <a:extLst>
              <a:ext uri="{FF2B5EF4-FFF2-40B4-BE49-F238E27FC236}">
                <a16:creationId xmlns:a16="http://schemas.microsoft.com/office/drawing/2014/main" id="{63A61CCD-9E12-10F8-97AD-6782B031B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9701" y="885825"/>
            <a:ext cx="6848474" cy="5954844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1400" b="1" dirty="0"/>
              <a:t>├─ </a:t>
            </a:r>
            <a:r>
              <a:rPr lang="en-US" sz="1400" b="1" dirty="0" err="1"/>
              <a:t>node_modules</a:t>
            </a:r>
            <a:r>
              <a:rPr lang="en-US" sz="1400" b="1" dirty="0"/>
              <a:t>/        # </a:t>
            </a:r>
            <a:r>
              <a:rPr lang="en-US" sz="1400" b="1" dirty="0" err="1"/>
              <a:t>dependências</a:t>
            </a:r>
            <a:r>
              <a:rPr lang="en-US" sz="1400" b="1" dirty="0"/>
              <a:t> </a:t>
            </a:r>
            <a:r>
              <a:rPr lang="en-US" sz="1400" b="1" dirty="0" err="1"/>
              <a:t>instaladas</a:t>
            </a:r>
            <a:r>
              <a:rPr lang="en-US" sz="1400" b="1" dirty="0"/>
              <a:t> (</a:t>
            </a:r>
            <a:r>
              <a:rPr lang="en-US" sz="1400" b="1" dirty="0" err="1"/>
              <a:t>npm</a:t>
            </a:r>
            <a:r>
              <a:rPr lang="en-US" sz="1400" b="1" dirty="0"/>
              <a:t>)</a:t>
            </a:r>
          </a:p>
          <a:p>
            <a:pPr>
              <a:lnSpc>
                <a:spcPct val="100000"/>
              </a:lnSpc>
            </a:pPr>
            <a:r>
              <a:rPr lang="en-US" sz="1400" b="1" dirty="0"/>
              <a:t>├─ public/              # </a:t>
            </a:r>
            <a:r>
              <a:rPr lang="en-US" sz="1400" b="1" dirty="0" err="1"/>
              <a:t>arquivos</a:t>
            </a:r>
            <a:r>
              <a:rPr lang="en-US" sz="1400" b="1" dirty="0"/>
              <a:t> </a:t>
            </a:r>
            <a:r>
              <a:rPr lang="en-US" sz="1400" b="1" dirty="0" err="1"/>
              <a:t>estáticos</a:t>
            </a:r>
            <a:r>
              <a:rPr lang="en-US" sz="1400" b="1" dirty="0"/>
              <a:t> </a:t>
            </a:r>
            <a:r>
              <a:rPr lang="en-US" sz="1400" b="1" dirty="0" err="1"/>
              <a:t>copiados</a:t>
            </a:r>
            <a:r>
              <a:rPr lang="en-US" sz="1400" b="1" dirty="0"/>
              <a:t> </a:t>
            </a:r>
            <a:r>
              <a:rPr lang="en-US" sz="1400" b="1" dirty="0" err="1"/>
              <a:t>como</a:t>
            </a:r>
            <a:r>
              <a:rPr lang="en-US" sz="1400" b="1" dirty="0"/>
              <a:t> </a:t>
            </a:r>
            <a:r>
              <a:rPr lang="en-US" sz="1400" b="1" dirty="0" err="1"/>
              <a:t>estão</a:t>
            </a:r>
            <a:endParaRPr lang="en-US" sz="1400" b="1" dirty="0"/>
          </a:p>
          <a:p>
            <a:pPr>
              <a:lnSpc>
                <a:spcPct val="100000"/>
              </a:lnSpc>
            </a:pPr>
            <a:r>
              <a:rPr lang="en-US" sz="1400" b="1" dirty="0"/>
              <a:t>├─ </a:t>
            </a:r>
            <a:r>
              <a:rPr lang="en-US" sz="1400" b="1" dirty="0" err="1"/>
              <a:t>src</a:t>
            </a:r>
            <a:r>
              <a:rPr lang="en-US" sz="1400" b="1" dirty="0"/>
              <a:t>/</a:t>
            </a:r>
          </a:p>
          <a:p>
            <a:pPr>
              <a:lnSpc>
                <a:spcPct val="100000"/>
              </a:lnSpc>
            </a:pPr>
            <a:r>
              <a:rPr lang="en-US" sz="1400" b="1" dirty="0"/>
              <a:t>│  ├─ app/              # </a:t>
            </a:r>
            <a:r>
              <a:rPr lang="en-US" sz="1400" b="1" dirty="0" err="1"/>
              <a:t>código</a:t>
            </a:r>
            <a:r>
              <a:rPr lang="en-US" sz="1400" b="1" dirty="0"/>
              <a:t> da </a:t>
            </a:r>
            <a:r>
              <a:rPr lang="en-US" sz="1400" b="1" dirty="0" err="1"/>
              <a:t>aplicação</a:t>
            </a:r>
            <a:r>
              <a:rPr lang="en-US" sz="1400" b="1" dirty="0"/>
              <a:t> (</a:t>
            </a:r>
            <a:r>
              <a:rPr lang="en-US" sz="1400" b="1" dirty="0" err="1"/>
              <a:t>componentes</a:t>
            </a:r>
            <a:r>
              <a:rPr lang="en-US" sz="1400" b="1" dirty="0"/>
              <a:t>, </a:t>
            </a:r>
            <a:r>
              <a:rPr lang="en-US" sz="1400" b="1" dirty="0" err="1"/>
              <a:t>rotas</a:t>
            </a:r>
            <a:r>
              <a:rPr lang="en-US" sz="1400" b="1" dirty="0"/>
              <a:t>, </a:t>
            </a:r>
            <a:r>
              <a:rPr lang="en-US" sz="1400" b="1" dirty="0" err="1"/>
              <a:t>serviços</a:t>
            </a:r>
            <a:r>
              <a:rPr lang="en-US" sz="1400" b="1" dirty="0"/>
              <a:t>)</a:t>
            </a:r>
          </a:p>
          <a:p>
            <a:pPr>
              <a:lnSpc>
                <a:spcPct val="100000"/>
              </a:lnSpc>
            </a:pPr>
            <a:r>
              <a:rPr lang="en-US" sz="1400" b="1" dirty="0"/>
              <a:t>│  ├─ assets/           # imagens, </a:t>
            </a:r>
            <a:r>
              <a:rPr lang="en-US" sz="1400" b="1" dirty="0" err="1"/>
              <a:t>ícones</a:t>
            </a:r>
            <a:r>
              <a:rPr lang="en-US" sz="1400" b="1" dirty="0"/>
              <a:t>, </a:t>
            </a:r>
            <a:r>
              <a:rPr lang="en-US" sz="1400" b="1" dirty="0" err="1"/>
              <a:t>fontes</a:t>
            </a:r>
            <a:r>
              <a:rPr lang="en-US" sz="1400" b="1" dirty="0"/>
              <a:t>, i18n etc.</a:t>
            </a:r>
          </a:p>
          <a:p>
            <a:pPr>
              <a:lnSpc>
                <a:spcPct val="100000"/>
              </a:lnSpc>
            </a:pPr>
            <a:r>
              <a:rPr lang="en-US" sz="1400" b="1" dirty="0"/>
              <a:t>│  ├─ environments/     # </a:t>
            </a:r>
            <a:r>
              <a:rPr lang="en-US" sz="1400" b="1" dirty="0" err="1"/>
              <a:t>variáveis</a:t>
            </a:r>
            <a:r>
              <a:rPr lang="en-US" sz="1400" b="1" dirty="0"/>
              <a:t> </a:t>
            </a:r>
            <a:r>
              <a:rPr lang="en-US" sz="1400" b="1" dirty="0" err="1"/>
              <a:t>por</a:t>
            </a:r>
            <a:r>
              <a:rPr lang="en-US" sz="1400" b="1" dirty="0"/>
              <a:t> </a:t>
            </a:r>
            <a:r>
              <a:rPr lang="en-US" sz="1400" b="1" dirty="0" err="1"/>
              <a:t>ambiente</a:t>
            </a:r>
            <a:r>
              <a:rPr lang="en-US" sz="1400" b="1" dirty="0"/>
              <a:t> (dev/prod)</a:t>
            </a:r>
          </a:p>
          <a:p>
            <a:pPr>
              <a:lnSpc>
                <a:spcPct val="100000"/>
              </a:lnSpc>
            </a:pPr>
            <a:r>
              <a:rPr lang="en-US" sz="1400" b="1" dirty="0"/>
              <a:t>│  ├─ index.html        # shell da </a:t>
            </a:r>
            <a:r>
              <a:rPr lang="en-US" sz="1400" b="1" dirty="0" err="1"/>
              <a:t>aplicação</a:t>
            </a:r>
            <a:r>
              <a:rPr lang="en-US" sz="1400" b="1" dirty="0"/>
              <a:t> (root &lt;app-root&gt;)</a:t>
            </a:r>
          </a:p>
          <a:p>
            <a:pPr>
              <a:lnSpc>
                <a:spcPct val="100000"/>
              </a:lnSpc>
            </a:pPr>
            <a:r>
              <a:rPr lang="en-US" sz="1400" b="1" dirty="0"/>
              <a:t>│  ├─ </a:t>
            </a:r>
            <a:r>
              <a:rPr lang="en-US" sz="1400" b="1" dirty="0" err="1"/>
              <a:t>main.ts</a:t>
            </a:r>
            <a:r>
              <a:rPr lang="en-US" sz="1400" b="1" dirty="0"/>
              <a:t>           # bootstrap da app (</a:t>
            </a:r>
            <a:r>
              <a:rPr lang="en-US" sz="1400" b="1" dirty="0" err="1"/>
              <a:t>enableProdMode</a:t>
            </a:r>
            <a:r>
              <a:rPr lang="en-US" sz="1400" b="1" dirty="0"/>
              <a:t>, </a:t>
            </a:r>
            <a:r>
              <a:rPr lang="en-US" sz="1400" b="1" dirty="0" err="1"/>
              <a:t>bootstrapApplication</a:t>
            </a:r>
            <a:r>
              <a:rPr lang="en-US" sz="1400" b="1" dirty="0"/>
              <a:t>)</a:t>
            </a:r>
          </a:p>
          <a:p>
            <a:pPr>
              <a:lnSpc>
                <a:spcPct val="100000"/>
              </a:lnSpc>
            </a:pPr>
            <a:r>
              <a:rPr lang="en-US" sz="1400" b="1" dirty="0"/>
              <a:t>│  ├─ styles.(</a:t>
            </a:r>
            <a:r>
              <a:rPr lang="en-US" sz="1400" b="1" dirty="0" err="1"/>
              <a:t>css|scss</a:t>
            </a:r>
            <a:r>
              <a:rPr lang="en-US" sz="1400" b="1" dirty="0"/>
              <a:t>) # </a:t>
            </a:r>
            <a:r>
              <a:rPr lang="en-US" sz="1400" b="1" dirty="0" err="1"/>
              <a:t>estilos</a:t>
            </a:r>
            <a:r>
              <a:rPr lang="en-US" sz="1400" b="1" dirty="0"/>
              <a:t> </a:t>
            </a:r>
            <a:r>
              <a:rPr lang="en-US" sz="1400" b="1" dirty="0" err="1"/>
              <a:t>globais</a:t>
            </a:r>
            <a:endParaRPr lang="en-US" sz="1400" b="1" dirty="0"/>
          </a:p>
          <a:p>
            <a:pPr>
              <a:lnSpc>
                <a:spcPct val="100000"/>
              </a:lnSpc>
            </a:pPr>
            <a:r>
              <a:rPr lang="en-US" sz="1400" b="1" dirty="0"/>
              <a:t>│  └─ </a:t>
            </a:r>
            <a:r>
              <a:rPr lang="en-US" sz="1400" b="1" dirty="0" err="1"/>
              <a:t>polyfills.ts</a:t>
            </a:r>
            <a:r>
              <a:rPr lang="en-US" sz="1400" b="1" dirty="0"/>
              <a:t>      # (se </a:t>
            </a:r>
            <a:r>
              <a:rPr lang="en-US" sz="1400" b="1" dirty="0" err="1"/>
              <a:t>existir</a:t>
            </a:r>
            <a:r>
              <a:rPr lang="en-US" sz="1400" b="1" dirty="0"/>
              <a:t>) </a:t>
            </a:r>
            <a:r>
              <a:rPr lang="en-US" sz="1400" b="1" dirty="0" err="1"/>
              <a:t>polyfills</a:t>
            </a:r>
            <a:r>
              <a:rPr lang="en-US" sz="1400" b="1" dirty="0"/>
              <a:t> do </a:t>
            </a:r>
            <a:r>
              <a:rPr lang="en-US" sz="1400" b="1" dirty="0" err="1"/>
              <a:t>navegador</a:t>
            </a:r>
            <a:endParaRPr lang="en-US" sz="1400" b="1" dirty="0"/>
          </a:p>
          <a:p>
            <a:pPr>
              <a:lnSpc>
                <a:spcPct val="100000"/>
              </a:lnSpc>
            </a:pPr>
            <a:r>
              <a:rPr lang="en-US" sz="1400" b="1" dirty="0"/>
              <a:t>├─ </a:t>
            </a:r>
            <a:r>
              <a:rPr lang="en-US" sz="1400" b="1" dirty="0" err="1"/>
              <a:t>angular.json</a:t>
            </a:r>
            <a:r>
              <a:rPr lang="en-US" sz="1400" b="1" dirty="0"/>
              <a:t>         # </a:t>
            </a:r>
            <a:r>
              <a:rPr lang="en-US" sz="1400" b="1" dirty="0" err="1"/>
              <a:t>configuração</a:t>
            </a:r>
            <a:r>
              <a:rPr lang="en-US" sz="1400" b="1" dirty="0"/>
              <a:t> do workspace: builds, serve, test, assets</a:t>
            </a:r>
          </a:p>
          <a:p>
            <a:pPr>
              <a:lnSpc>
                <a:spcPct val="100000"/>
              </a:lnSpc>
            </a:pPr>
            <a:r>
              <a:rPr lang="en-US" sz="1400" b="1" dirty="0"/>
              <a:t>├─ </a:t>
            </a:r>
            <a:r>
              <a:rPr lang="en-US" sz="1400" b="1" dirty="0" err="1"/>
              <a:t>package.json</a:t>
            </a:r>
            <a:r>
              <a:rPr lang="en-US" sz="1400" b="1" dirty="0"/>
              <a:t>         # scripts </a:t>
            </a:r>
            <a:r>
              <a:rPr lang="en-US" sz="1400" b="1" dirty="0" err="1"/>
              <a:t>npm</a:t>
            </a:r>
            <a:r>
              <a:rPr lang="en-US" sz="1400" b="1" dirty="0"/>
              <a:t> e </a:t>
            </a:r>
            <a:r>
              <a:rPr lang="en-US" sz="1400" b="1" dirty="0" err="1"/>
              <a:t>lista</a:t>
            </a:r>
            <a:r>
              <a:rPr lang="en-US" sz="1400" b="1" dirty="0"/>
              <a:t> de </a:t>
            </a:r>
            <a:r>
              <a:rPr lang="en-US" sz="1400" b="1" dirty="0" err="1"/>
              <a:t>dependências</a:t>
            </a:r>
            <a:endParaRPr lang="en-US" sz="1400" b="1" dirty="0"/>
          </a:p>
          <a:p>
            <a:pPr>
              <a:lnSpc>
                <a:spcPct val="100000"/>
              </a:lnSpc>
            </a:pPr>
            <a:r>
              <a:rPr lang="en-US" sz="1400" b="1" dirty="0"/>
              <a:t>├─ </a:t>
            </a:r>
            <a:r>
              <a:rPr lang="en-US" sz="1400" b="1" dirty="0" err="1"/>
              <a:t>tsconfig.json</a:t>
            </a:r>
            <a:r>
              <a:rPr lang="en-US" sz="1400" b="1" dirty="0"/>
              <a:t>        # config TypeScript (base)</a:t>
            </a:r>
          </a:p>
          <a:p>
            <a:pPr>
              <a:lnSpc>
                <a:spcPct val="100000"/>
              </a:lnSpc>
            </a:pPr>
            <a:r>
              <a:rPr lang="en-US" sz="1400" b="1" dirty="0"/>
              <a:t>├─ </a:t>
            </a:r>
            <a:r>
              <a:rPr lang="en-US" sz="1400" b="1" dirty="0" err="1"/>
              <a:t>tsconfig.app.json</a:t>
            </a:r>
            <a:r>
              <a:rPr lang="en-US" sz="1400" b="1" dirty="0"/>
              <a:t>    # TS da app (paths, strict, lib)</a:t>
            </a:r>
          </a:p>
          <a:p>
            <a:pPr>
              <a:lnSpc>
                <a:spcPct val="100000"/>
              </a:lnSpc>
            </a:pPr>
            <a:r>
              <a:rPr lang="en-US" sz="1400" b="1" dirty="0"/>
              <a:t>├─ </a:t>
            </a:r>
            <a:r>
              <a:rPr lang="en-US" sz="1400" b="1" dirty="0" err="1"/>
              <a:t>tsconfig.spec.json</a:t>
            </a:r>
            <a:r>
              <a:rPr lang="en-US" sz="1400" b="1" dirty="0"/>
              <a:t>   # TS para testes (Karma/Jasmine </a:t>
            </a:r>
            <a:r>
              <a:rPr lang="en-US" sz="1400" b="1" dirty="0" err="1"/>
              <a:t>ou</a:t>
            </a:r>
            <a:r>
              <a:rPr lang="en-US" sz="1400" b="1" dirty="0"/>
              <a:t> Jest)</a:t>
            </a:r>
          </a:p>
          <a:p>
            <a:pPr>
              <a:lnSpc>
                <a:spcPct val="100000"/>
              </a:lnSpc>
            </a:pPr>
            <a:r>
              <a:rPr lang="en-US" sz="1400" b="1" dirty="0"/>
              <a:t>├─ .</a:t>
            </a:r>
            <a:r>
              <a:rPr lang="en-US" sz="1400" b="1" dirty="0" err="1"/>
              <a:t>editorconfig</a:t>
            </a:r>
            <a:r>
              <a:rPr lang="en-US" sz="1400" b="1" dirty="0"/>
              <a:t>        # </a:t>
            </a:r>
            <a:r>
              <a:rPr lang="en-US" sz="1400" b="1" dirty="0" err="1"/>
              <a:t>padrão</a:t>
            </a:r>
            <a:r>
              <a:rPr lang="en-US" sz="1400" b="1" dirty="0"/>
              <a:t> de </a:t>
            </a:r>
            <a:r>
              <a:rPr lang="en-US" sz="1400" b="1" dirty="0" err="1"/>
              <a:t>formatação</a:t>
            </a:r>
            <a:r>
              <a:rPr lang="en-US" sz="1400" b="1" dirty="0"/>
              <a:t> do editor</a:t>
            </a:r>
          </a:p>
          <a:p>
            <a:pPr>
              <a:lnSpc>
                <a:spcPct val="100000"/>
              </a:lnSpc>
            </a:pPr>
            <a:r>
              <a:rPr lang="en-US" sz="1400" b="1" dirty="0"/>
              <a:t>├─ .</a:t>
            </a:r>
            <a:r>
              <a:rPr lang="en-US" sz="1400" b="1" dirty="0" err="1"/>
              <a:t>gitignore</a:t>
            </a:r>
            <a:r>
              <a:rPr lang="en-US" sz="1400" b="1" dirty="0"/>
              <a:t>           # </a:t>
            </a:r>
            <a:r>
              <a:rPr lang="en-US" sz="1400" b="1" dirty="0" err="1"/>
              <a:t>arquivos</a:t>
            </a:r>
            <a:r>
              <a:rPr lang="en-US" sz="1400" b="1" dirty="0"/>
              <a:t>/pastas </a:t>
            </a:r>
            <a:r>
              <a:rPr lang="en-US" sz="1400" b="1" dirty="0" err="1"/>
              <a:t>ignorados</a:t>
            </a:r>
            <a:r>
              <a:rPr lang="en-US" sz="1400" b="1" dirty="0"/>
              <a:t> no Git</a:t>
            </a:r>
          </a:p>
          <a:p>
            <a:pPr>
              <a:lnSpc>
                <a:spcPct val="100000"/>
              </a:lnSpc>
            </a:pPr>
            <a:r>
              <a:rPr lang="en-US" sz="1400" b="1" dirty="0"/>
              <a:t>└─ README.md            # </a:t>
            </a:r>
            <a:r>
              <a:rPr lang="en-US" sz="1400" b="1" dirty="0" err="1"/>
              <a:t>instruções</a:t>
            </a:r>
            <a:r>
              <a:rPr lang="en-US" sz="1400" b="1" dirty="0"/>
              <a:t> do </a:t>
            </a:r>
            <a:r>
              <a:rPr lang="en-US" sz="1400" b="1" dirty="0" err="1"/>
              <a:t>projeto</a:t>
            </a:r>
            <a:endParaRPr lang="en-US" sz="1400" b="1" dirty="0"/>
          </a:p>
          <a:p>
            <a:pPr>
              <a:lnSpc>
                <a:spcPct val="100000"/>
              </a:lnSpc>
            </a:pPr>
            <a:endParaRPr lang="en-US" sz="500" dirty="0"/>
          </a:p>
        </p:txBody>
      </p:sp>
      <p:pic>
        <p:nvPicPr>
          <p:cNvPr id="5" name="Espaço Reservado para Conteúdo 4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845FE77C-A009-B3F5-4E03-48BD050F7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63" y="795951"/>
            <a:ext cx="3657303" cy="478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352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B2A09D-A924-C6F1-60BD-6B861B1DB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5"/>
            <a:ext cx="10972800" cy="566928"/>
          </a:xfrm>
        </p:spPr>
        <p:txBody>
          <a:bodyPr>
            <a:normAutofit fontScale="90000"/>
          </a:bodyPr>
          <a:lstStyle/>
          <a:p>
            <a:r>
              <a:rPr lang="pt-BR" dirty="0"/>
              <a:t>Componentes: breve 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B1CCAE-5366-F06B-2739-75799F6C6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342900" indent="-342900">
              <a:buClrTx/>
              <a:buFont typeface="Arial" panose="020B0604020202020204" pitchFamily="34" charset="0"/>
              <a:buChar char="•"/>
            </a:pPr>
            <a:r>
              <a:rPr lang="pt-BR" dirty="0"/>
              <a:t>Os componentes são classes decoradas com @Component e alguns metadados;</a:t>
            </a:r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r>
              <a:rPr lang="pt-BR" dirty="0"/>
              <a:t>São responsáveis por controlar trechos de tela denominados </a:t>
            </a:r>
            <a:r>
              <a:rPr lang="pt-BR" dirty="0" err="1"/>
              <a:t>view</a:t>
            </a:r>
            <a:r>
              <a:rPr lang="pt-BR" dirty="0"/>
              <a:t>; </a:t>
            </a:r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r>
              <a:rPr lang="pt-BR" dirty="0"/>
              <a:t>A </a:t>
            </a:r>
            <a:r>
              <a:rPr lang="pt-BR" dirty="0" err="1"/>
              <a:t>view</a:t>
            </a:r>
            <a:r>
              <a:rPr lang="pt-BR" dirty="0"/>
              <a:t> de um componente é definida através de </a:t>
            </a:r>
            <a:r>
              <a:rPr lang="pt-BR" dirty="0" err="1"/>
              <a:t>templates</a:t>
            </a:r>
            <a:r>
              <a:rPr lang="pt-BR" dirty="0"/>
              <a:t>; </a:t>
            </a:r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r>
              <a:rPr lang="pt-BR" dirty="0"/>
              <a:t>No </a:t>
            </a:r>
            <a:r>
              <a:rPr lang="pt-BR" dirty="0" err="1"/>
              <a:t>template</a:t>
            </a:r>
            <a:r>
              <a:rPr lang="pt-BR" dirty="0"/>
              <a:t> é declarado o código HTML que renderiza o componente; </a:t>
            </a:r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r>
              <a:rPr lang="pt-BR" dirty="0"/>
              <a:t>Além de elementos HTML, </a:t>
            </a:r>
            <a:r>
              <a:rPr lang="pt-BR" dirty="0" err="1"/>
              <a:t>templates</a:t>
            </a:r>
            <a:r>
              <a:rPr lang="pt-BR" dirty="0"/>
              <a:t> contém sintaxes próprias do Angular;</a:t>
            </a:r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r>
              <a:rPr lang="pt-BR" dirty="0"/>
              <a:t>Nas classes de componentes são definidas lógicas da aplicação que interagem com a </a:t>
            </a:r>
            <a:r>
              <a:rPr lang="pt-BR" dirty="0" err="1"/>
              <a:t>view</a:t>
            </a:r>
            <a:r>
              <a:rPr lang="pt-BR" dirty="0"/>
              <a:t> através da API de propriedades e métodos;</a:t>
            </a:r>
          </a:p>
        </p:txBody>
      </p:sp>
    </p:spTree>
    <p:extLst>
      <p:ext uri="{BB962C8B-B14F-4D97-AF65-F5344CB8AC3E}">
        <p14:creationId xmlns:p14="http://schemas.microsoft.com/office/powerpoint/2010/main" val="3643509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C48F90-AFD5-4232-AE7D-27B956BF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C96EE1-9524-4300-BFAC-56AA55EB4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855747" y="-1"/>
            <a:ext cx="6336253" cy="6858001"/>
          </a:xfrm>
          <a:custGeom>
            <a:avLst/>
            <a:gdLst>
              <a:gd name="connsiteX0" fmla="*/ 5721063 w 6336253"/>
              <a:gd name="connsiteY0" fmla="*/ 3536635 h 6858001"/>
              <a:gd name="connsiteX1" fmla="*/ 6230651 w 6336253"/>
              <a:gd name="connsiteY1" fmla="*/ 4046223 h 6858001"/>
              <a:gd name="connsiteX2" fmla="*/ 5721063 w 6336253"/>
              <a:gd name="connsiteY2" fmla="*/ 4555811 h 6858001"/>
              <a:gd name="connsiteX3" fmla="*/ 5211475 w 6336253"/>
              <a:gd name="connsiteY3" fmla="*/ 4046223 h 6858001"/>
              <a:gd name="connsiteX4" fmla="*/ 5721063 w 6336253"/>
              <a:gd name="connsiteY4" fmla="*/ 3536635 h 6858001"/>
              <a:gd name="connsiteX5" fmla="*/ 5456902 w 6336253"/>
              <a:gd name="connsiteY5" fmla="*/ 0 h 6858001"/>
              <a:gd name="connsiteX6" fmla="*/ 6321710 w 6336253"/>
              <a:gd name="connsiteY6" fmla="*/ 0 h 6858001"/>
              <a:gd name="connsiteX7" fmla="*/ 6332019 w 6336253"/>
              <a:gd name="connsiteY7" fmla="*/ 42969 h 6858001"/>
              <a:gd name="connsiteX8" fmla="*/ 6320934 w 6336253"/>
              <a:gd name="connsiteY8" fmla="*/ 219852 h 6858001"/>
              <a:gd name="connsiteX9" fmla="*/ 5774313 w 6336253"/>
              <a:gd name="connsiteY9" fmla="*/ 535443 h 6858001"/>
              <a:gd name="connsiteX10" fmla="*/ 5444200 w 6336253"/>
              <a:gd name="connsiteY10" fmla="*/ 78052 h 6858001"/>
              <a:gd name="connsiteX11" fmla="*/ 609600 w 6336253"/>
              <a:gd name="connsiteY11" fmla="*/ 0 h 6858001"/>
              <a:gd name="connsiteX12" fmla="*/ 1171409 w 6336253"/>
              <a:gd name="connsiteY12" fmla="*/ 0 h 6858001"/>
              <a:gd name="connsiteX13" fmla="*/ 4838473 w 6336253"/>
              <a:gd name="connsiteY13" fmla="*/ 0 h 6858001"/>
              <a:gd name="connsiteX14" fmla="*/ 4830349 w 6336253"/>
              <a:gd name="connsiteY14" fmla="*/ 184996 h 6858001"/>
              <a:gd name="connsiteX15" fmla="*/ 4833376 w 6336253"/>
              <a:gd name="connsiteY15" fmla="*/ 419995 h 6858001"/>
              <a:gd name="connsiteX16" fmla="*/ 5281338 w 6336253"/>
              <a:gd name="connsiteY16" fmla="*/ 1068099 h 6858001"/>
              <a:gd name="connsiteX17" fmla="*/ 5729205 w 6336253"/>
              <a:gd name="connsiteY17" fmla="*/ 2589405 h 6858001"/>
              <a:gd name="connsiteX18" fmla="*/ 5283212 w 6336253"/>
              <a:gd name="connsiteY18" fmla="*/ 3164269 h 6858001"/>
              <a:gd name="connsiteX19" fmla="*/ 5124820 w 6336253"/>
              <a:gd name="connsiteY19" fmla="*/ 4641255 h 6858001"/>
              <a:gd name="connsiteX20" fmla="*/ 5736551 w 6336253"/>
              <a:gd name="connsiteY20" fmla="*/ 5670858 h 6858001"/>
              <a:gd name="connsiteX21" fmla="*/ 6022123 w 6336253"/>
              <a:gd name="connsiteY21" fmla="*/ 6707670 h 6858001"/>
              <a:gd name="connsiteX22" fmla="*/ 6024496 w 6336253"/>
              <a:gd name="connsiteY22" fmla="*/ 6858000 h 6858001"/>
              <a:gd name="connsiteX23" fmla="*/ 2242268 w 6336253"/>
              <a:gd name="connsiteY23" fmla="*/ 6858000 h 6858001"/>
              <a:gd name="connsiteX24" fmla="*/ 2242268 w 6336253"/>
              <a:gd name="connsiteY24" fmla="*/ 6858001 h 6858001"/>
              <a:gd name="connsiteX25" fmla="*/ 0 w 6336253"/>
              <a:gd name="connsiteY25" fmla="*/ 6858001 h 6858001"/>
              <a:gd name="connsiteX26" fmla="*/ 0 w 6336253"/>
              <a:gd name="connsiteY26" fmla="*/ 1 h 6858001"/>
              <a:gd name="connsiteX27" fmla="*/ 609600 w 6336253"/>
              <a:gd name="connsiteY27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336253" h="6858001">
                <a:moveTo>
                  <a:pt x="5721063" y="3536635"/>
                </a:moveTo>
                <a:cubicBezTo>
                  <a:pt x="6002501" y="3536635"/>
                  <a:pt x="6230651" y="3764785"/>
                  <a:pt x="6230651" y="4046223"/>
                </a:cubicBezTo>
                <a:cubicBezTo>
                  <a:pt x="6230651" y="4327661"/>
                  <a:pt x="6002501" y="4555811"/>
                  <a:pt x="5721063" y="4555811"/>
                </a:cubicBezTo>
                <a:cubicBezTo>
                  <a:pt x="5439625" y="4555811"/>
                  <a:pt x="5211475" y="4327661"/>
                  <a:pt x="5211475" y="4046223"/>
                </a:cubicBezTo>
                <a:cubicBezTo>
                  <a:pt x="5211475" y="3764785"/>
                  <a:pt x="5439625" y="3536635"/>
                  <a:pt x="5721063" y="3536635"/>
                </a:cubicBezTo>
                <a:close/>
                <a:moveTo>
                  <a:pt x="5456902" y="0"/>
                </a:moveTo>
                <a:lnTo>
                  <a:pt x="6321710" y="0"/>
                </a:lnTo>
                <a:lnTo>
                  <a:pt x="6332019" y="42969"/>
                </a:lnTo>
                <a:cubicBezTo>
                  <a:pt x="6340015" y="100391"/>
                  <a:pt x="6336884" y="160329"/>
                  <a:pt x="6320934" y="219852"/>
                </a:cubicBezTo>
                <a:cubicBezTo>
                  <a:pt x="6257137" y="457945"/>
                  <a:pt x="6012407" y="599240"/>
                  <a:pt x="5774313" y="535443"/>
                </a:cubicBezTo>
                <a:cubicBezTo>
                  <a:pt x="5565982" y="479621"/>
                  <a:pt x="5431761" y="285271"/>
                  <a:pt x="5444200" y="78052"/>
                </a:cubicBezTo>
                <a:close/>
                <a:moveTo>
                  <a:pt x="609600" y="0"/>
                </a:moveTo>
                <a:lnTo>
                  <a:pt x="1171409" y="0"/>
                </a:lnTo>
                <a:lnTo>
                  <a:pt x="4838473" y="0"/>
                </a:lnTo>
                <a:lnTo>
                  <a:pt x="4830349" y="184996"/>
                </a:lnTo>
                <a:cubicBezTo>
                  <a:pt x="4828991" y="263520"/>
                  <a:pt x="4829864" y="341910"/>
                  <a:pt x="4833376" y="419995"/>
                </a:cubicBezTo>
                <a:cubicBezTo>
                  <a:pt x="4846565" y="709488"/>
                  <a:pt x="5075226" y="891535"/>
                  <a:pt x="5281338" y="1068099"/>
                </a:cubicBezTo>
                <a:cubicBezTo>
                  <a:pt x="5795128" y="1508061"/>
                  <a:pt x="5969974" y="2032158"/>
                  <a:pt x="5729205" y="2589405"/>
                </a:cubicBezTo>
                <a:cubicBezTo>
                  <a:pt x="5635831" y="2805523"/>
                  <a:pt x="5454276" y="2993264"/>
                  <a:pt x="5283212" y="3164269"/>
                </a:cubicBezTo>
                <a:cubicBezTo>
                  <a:pt x="4824418" y="3622744"/>
                  <a:pt x="4843217" y="4154456"/>
                  <a:pt x="5124820" y="4641255"/>
                </a:cubicBezTo>
                <a:cubicBezTo>
                  <a:pt x="5325440" y="4986832"/>
                  <a:pt x="5565996" y="5311556"/>
                  <a:pt x="5736551" y="5670858"/>
                </a:cubicBezTo>
                <a:cubicBezTo>
                  <a:pt x="5902602" y="6019042"/>
                  <a:pt x="6001121" y="6366409"/>
                  <a:pt x="6022123" y="6707670"/>
                </a:cubicBezTo>
                <a:lnTo>
                  <a:pt x="6024496" y="6858000"/>
                </a:lnTo>
                <a:lnTo>
                  <a:pt x="2242268" y="6858000"/>
                </a:lnTo>
                <a:lnTo>
                  <a:pt x="2242268" y="6858001"/>
                </a:lnTo>
                <a:lnTo>
                  <a:pt x="0" y="6858001"/>
                </a:lnTo>
                <a:lnTo>
                  <a:pt x="0" y="1"/>
                </a:lnTo>
                <a:lnTo>
                  <a:pt x="60960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13584A-0F74-56A0-BD43-F98E17DA8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52783"/>
            <a:ext cx="9560476" cy="62023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Componentes</a:t>
            </a:r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4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principais</a:t>
            </a:r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metadados</a:t>
            </a:r>
            <a:endParaRPr lang="en-US" sz="4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CDB066-9858-5950-0AB6-91CD29EB0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7091" y="1625600"/>
            <a:ext cx="7167417" cy="4932218"/>
          </a:xfrm>
        </p:spPr>
        <p:txBody>
          <a:bodyPr vert="horz" lIns="91440" tIns="45720" rIns="91440" bIns="45720" rtlCol="0">
            <a:normAutofit/>
          </a:bodyPr>
          <a:lstStyle/>
          <a:p>
            <a:pPr marL="6286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sz="1600" b="1" dirty="0" err="1"/>
              <a:t>Selector</a:t>
            </a:r>
            <a:r>
              <a:rPr lang="pt-BR" sz="1600" b="1" dirty="0"/>
              <a:t>: </a:t>
            </a:r>
            <a:r>
              <a:rPr lang="pt-BR" sz="1600" dirty="0"/>
              <a:t>Metadado que define a </a:t>
            </a:r>
            <a:r>
              <a:rPr lang="pt-BR" sz="1600" dirty="0" err="1"/>
              <a:t>tag</a:t>
            </a:r>
            <a:r>
              <a:rPr lang="pt-BR" sz="1600" dirty="0"/>
              <a:t> (seletor CSS) utilizada para referenciar o componente. Quando o Angular encontra uma </a:t>
            </a:r>
            <a:r>
              <a:rPr lang="pt-BR" sz="1600" dirty="0" err="1"/>
              <a:t>tag</a:t>
            </a:r>
            <a:r>
              <a:rPr lang="pt-BR" sz="1600" dirty="0"/>
              <a:t> com o seletor especificado (Ex. &lt;app-</a:t>
            </a:r>
            <a:r>
              <a:rPr lang="pt-BR" sz="1600" dirty="0" err="1"/>
              <a:t>rodape</a:t>
            </a:r>
            <a:r>
              <a:rPr lang="pt-BR" sz="1600" dirty="0"/>
              <a:t>&gt;&lt;/app-</a:t>
            </a:r>
            <a:r>
              <a:rPr lang="pt-BR" sz="1600" dirty="0" err="1"/>
              <a:t>rodape</a:t>
            </a:r>
            <a:r>
              <a:rPr lang="pt-BR" sz="1600" dirty="0"/>
              <a:t>&gt;), ele substitui essa </a:t>
            </a:r>
            <a:r>
              <a:rPr lang="pt-BR" sz="1600" dirty="0" err="1"/>
              <a:t>tag</a:t>
            </a:r>
            <a:r>
              <a:rPr lang="pt-BR" sz="1600" dirty="0"/>
              <a:t> por uma instância do componente correspondente. </a:t>
            </a:r>
          </a:p>
          <a:p>
            <a:pPr marL="6286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pt-BR" sz="1600" b="1" dirty="0"/>
          </a:p>
          <a:p>
            <a:pPr marL="6286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sz="1600" b="1" dirty="0" err="1"/>
              <a:t>TemplateUrl</a:t>
            </a:r>
            <a:r>
              <a:rPr lang="pt-BR" sz="1600" b="1" dirty="0"/>
              <a:t>: </a:t>
            </a:r>
            <a:r>
              <a:rPr lang="pt-BR" sz="1600" dirty="0"/>
              <a:t>Define o caminho do arquivo de </a:t>
            </a:r>
            <a:r>
              <a:rPr lang="pt-BR" sz="1600" dirty="0" err="1"/>
              <a:t>template</a:t>
            </a:r>
            <a:r>
              <a:rPr lang="pt-BR" sz="1600" dirty="0"/>
              <a:t> HTML que contém a estrutura de visualização do componente.</a:t>
            </a:r>
          </a:p>
          <a:p>
            <a:pPr marL="6286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pt-BR" sz="1600" b="1" dirty="0"/>
          </a:p>
          <a:p>
            <a:pPr marL="6286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sz="1600" b="1" dirty="0"/>
              <a:t> </a:t>
            </a:r>
            <a:r>
              <a:rPr lang="pt-BR" sz="1600" b="1" dirty="0" err="1"/>
              <a:t>StyleUrls</a:t>
            </a:r>
            <a:r>
              <a:rPr lang="pt-BR" sz="1600" b="1" dirty="0"/>
              <a:t>: </a:t>
            </a:r>
            <a:r>
              <a:rPr lang="pt-BR" sz="1600" dirty="0"/>
              <a:t>Um </a:t>
            </a:r>
            <a:r>
              <a:rPr lang="pt-BR" sz="1600" dirty="0" err="1"/>
              <a:t>array</a:t>
            </a:r>
            <a:r>
              <a:rPr lang="pt-BR" sz="1600" dirty="0"/>
              <a:t> que contém os caminhos dos arquivos CSS que estilizam o componente. </a:t>
            </a:r>
          </a:p>
          <a:p>
            <a:pPr marL="6286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pt-BR" sz="1600" b="1" dirty="0"/>
          </a:p>
          <a:p>
            <a:pPr marL="6286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sz="1600" b="1" dirty="0" err="1"/>
              <a:t>Imports</a:t>
            </a:r>
            <a:r>
              <a:rPr lang="pt-BR" sz="1600" b="1" dirty="0"/>
              <a:t>: </a:t>
            </a:r>
            <a:r>
              <a:rPr lang="pt-BR" sz="1600" dirty="0"/>
              <a:t>Lista de módulos ou componentes externos que são importados e utilizados dentro do componente.</a:t>
            </a:r>
            <a:endParaRPr lang="en-US" sz="16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B23AC30-96DD-DB10-A134-5F3A10EB0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934" y="1978213"/>
            <a:ext cx="4289283" cy="290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353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C48F90-AFD5-4232-AE7D-27B956BF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3C96EE1-9524-4300-BFAC-56AA55EB4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855747" y="-1"/>
            <a:ext cx="6336253" cy="6858001"/>
          </a:xfrm>
          <a:custGeom>
            <a:avLst/>
            <a:gdLst>
              <a:gd name="connsiteX0" fmla="*/ 5721063 w 6336253"/>
              <a:gd name="connsiteY0" fmla="*/ 3536635 h 6858001"/>
              <a:gd name="connsiteX1" fmla="*/ 6230651 w 6336253"/>
              <a:gd name="connsiteY1" fmla="*/ 4046223 h 6858001"/>
              <a:gd name="connsiteX2" fmla="*/ 5721063 w 6336253"/>
              <a:gd name="connsiteY2" fmla="*/ 4555811 h 6858001"/>
              <a:gd name="connsiteX3" fmla="*/ 5211475 w 6336253"/>
              <a:gd name="connsiteY3" fmla="*/ 4046223 h 6858001"/>
              <a:gd name="connsiteX4" fmla="*/ 5721063 w 6336253"/>
              <a:gd name="connsiteY4" fmla="*/ 3536635 h 6858001"/>
              <a:gd name="connsiteX5" fmla="*/ 5456902 w 6336253"/>
              <a:gd name="connsiteY5" fmla="*/ 0 h 6858001"/>
              <a:gd name="connsiteX6" fmla="*/ 6321710 w 6336253"/>
              <a:gd name="connsiteY6" fmla="*/ 0 h 6858001"/>
              <a:gd name="connsiteX7" fmla="*/ 6332019 w 6336253"/>
              <a:gd name="connsiteY7" fmla="*/ 42969 h 6858001"/>
              <a:gd name="connsiteX8" fmla="*/ 6320934 w 6336253"/>
              <a:gd name="connsiteY8" fmla="*/ 219852 h 6858001"/>
              <a:gd name="connsiteX9" fmla="*/ 5774313 w 6336253"/>
              <a:gd name="connsiteY9" fmla="*/ 535443 h 6858001"/>
              <a:gd name="connsiteX10" fmla="*/ 5444200 w 6336253"/>
              <a:gd name="connsiteY10" fmla="*/ 78052 h 6858001"/>
              <a:gd name="connsiteX11" fmla="*/ 609600 w 6336253"/>
              <a:gd name="connsiteY11" fmla="*/ 0 h 6858001"/>
              <a:gd name="connsiteX12" fmla="*/ 1171409 w 6336253"/>
              <a:gd name="connsiteY12" fmla="*/ 0 h 6858001"/>
              <a:gd name="connsiteX13" fmla="*/ 4838473 w 6336253"/>
              <a:gd name="connsiteY13" fmla="*/ 0 h 6858001"/>
              <a:gd name="connsiteX14" fmla="*/ 4830349 w 6336253"/>
              <a:gd name="connsiteY14" fmla="*/ 184996 h 6858001"/>
              <a:gd name="connsiteX15" fmla="*/ 4833376 w 6336253"/>
              <a:gd name="connsiteY15" fmla="*/ 419995 h 6858001"/>
              <a:gd name="connsiteX16" fmla="*/ 5281338 w 6336253"/>
              <a:gd name="connsiteY16" fmla="*/ 1068099 h 6858001"/>
              <a:gd name="connsiteX17" fmla="*/ 5729205 w 6336253"/>
              <a:gd name="connsiteY17" fmla="*/ 2589405 h 6858001"/>
              <a:gd name="connsiteX18" fmla="*/ 5283212 w 6336253"/>
              <a:gd name="connsiteY18" fmla="*/ 3164269 h 6858001"/>
              <a:gd name="connsiteX19" fmla="*/ 5124820 w 6336253"/>
              <a:gd name="connsiteY19" fmla="*/ 4641255 h 6858001"/>
              <a:gd name="connsiteX20" fmla="*/ 5736551 w 6336253"/>
              <a:gd name="connsiteY20" fmla="*/ 5670858 h 6858001"/>
              <a:gd name="connsiteX21" fmla="*/ 6022123 w 6336253"/>
              <a:gd name="connsiteY21" fmla="*/ 6707670 h 6858001"/>
              <a:gd name="connsiteX22" fmla="*/ 6024496 w 6336253"/>
              <a:gd name="connsiteY22" fmla="*/ 6858000 h 6858001"/>
              <a:gd name="connsiteX23" fmla="*/ 2242268 w 6336253"/>
              <a:gd name="connsiteY23" fmla="*/ 6858000 h 6858001"/>
              <a:gd name="connsiteX24" fmla="*/ 2242268 w 6336253"/>
              <a:gd name="connsiteY24" fmla="*/ 6858001 h 6858001"/>
              <a:gd name="connsiteX25" fmla="*/ 0 w 6336253"/>
              <a:gd name="connsiteY25" fmla="*/ 6858001 h 6858001"/>
              <a:gd name="connsiteX26" fmla="*/ 0 w 6336253"/>
              <a:gd name="connsiteY26" fmla="*/ 1 h 6858001"/>
              <a:gd name="connsiteX27" fmla="*/ 609600 w 6336253"/>
              <a:gd name="connsiteY27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336253" h="6858001">
                <a:moveTo>
                  <a:pt x="5721063" y="3536635"/>
                </a:moveTo>
                <a:cubicBezTo>
                  <a:pt x="6002501" y="3536635"/>
                  <a:pt x="6230651" y="3764785"/>
                  <a:pt x="6230651" y="4046223"/>
                </a:cubicBezTo>
                <a:cubicBezTo>
                  <a:pt x="6230651" y="4327661"/>
                  <a:pt x="6002501" y="4555811"/>
                  <a:pt x="5721063" y="4555811"/>
                </a:cubicBezTo>
                <a:cubicBezTo>
                  <a:pt x="5439625" y="4555811"/>
                  <a:pt x="5211475" y="4327661"/>
                  <a:pt x="5211475" y="4046223"/>
                </a:cubicBezTo>
                <a:cubicBezTo>
                  <a:pt x="5211475" y="3764785"/>
                  <a:pt x="5439625" y="3536635"/>
                  <a:pt x="5721063" y="3536635"/>
                </a:cubicBezTo>
                <a:close/>
                <a:moveTo>
                  <a:pt x="5456902" y="0"/>
                </a:moveTo>
                <a:lnTo>
                  <a:pt x="6321710" y="0"/>
                </a:lnTo>
                <a:lnTo>
                  <a:pt x="6332019" y="42969"/>
                </a:lnTo>
                <a:cubicBezTo>
                  <a:pt x="6340015" y="100391"/>
                  <a:pt x="6336884" y="160329"/>
                  <a:pt x="6320934" y="219852"/>
                </a:cubicBezTo>
                <a:cubicBezTo>
                  <a:pt x="6257137" y="457945"/>
                  <a:pt x="6012407" y="599240"/>
                  <a:pt x="5774313" y="535443"/>
                </a:cubicBezTo>
                <a:cubicBezTo>
                  <a:pt x="5565982" y="479621"/>
                  <a:pt x="5431761" y="285271"/>
                  <a:pt x="5444200" y="78052"/>
                </a:cubicBezTo>
                <a:close/>
                <a:moveTo>
                  <a:pt x="609600" y="0"/>
                </a:moveTo>
                <a:lnTo>
                  <a:pt x="1171409" y="0"/>
                </a:lnTo>
                <a:lnTo>
                  <a:pt x="4838473" y="0"/>
                </a:lnTo>
                <a:lnTo>
                  <a:pt x="4830349" y="184996"/>
                </a:lnTo>
                <a:cubicBezTo>
                  <a:pt x="4828991" y="263520"/>
                  <a:pt x="4829864" y="341910"/>
                  <a:pt x="4833376" y="419995"/>
                </a:cubicBezTo>
                <a:cubicBezTo>
                  <a:pt x="4846565" y="709488"/>
                  <a:pt x="5075226" y="891535"/>
                  <a:pt x="5281338" y="1068099"/>
                </a:cubicBezTo>
                <a:cubicBezTo>
                  <a:pt x="5795128" y="1508061"/>
                  <a:pt x="5969974" y="2032158"/>
                  <a:pt x="5729205" y="2589405"/>
                </a:cubicBezTo>
                <a:cubicBezTo>
                  <a:pt x="5635831" y="2805523"/>
                  <a:pt x="5454276" y="2993264"/>
                  <a:pt x="5283212" y="3164269"/>
                </a:cubicBezTo>
                <a:cubicBezTo>
                  <a:pt x="4824418" y="3622744"/>
                  <a:pt x="4843217" y="4154456"/>
                  <a:pt x="5124820" y="4641255"/>
                </a:cubicBezTo>
                <a:cubicBezTo>
                  <a:pt x="5325440" y="4986832"/>
                  <a:pt x="5565996" y="5311556"/>
                  <a:pt x="5736551" y="5670858"/>
                </a:cubicBezTo>
                <a:cubicBezTo>
                  <a:pt x="5902602" y="6019042"/>
                  <a:pt x="6001121" y="6366409"/>
                  <a:pt x="6022123" y="6707670"/>
                </a:cubicBezTo>
                <a:lnTo>
                  <a:pt x="6024496" y="6858000"/>
                </a:lnTo>
                <a:lnTo>
                  <a:pt x="2242268" y="6858000"/>
                </a:lnTo>
                <a:lnTo>
                  <a:pt x="2242268" y="6858001"/>
                </a:lnTo>
                <a:lnTo>
                  <a:pt x="0" y="6858001"/>
                </a:lnTo>
                <a:lnTo>
                  <a:pt x="0" y="1"/>
                </a:lnTo>
                <a:lnTo>
                  <a:pt x="60960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2305BF8-55E9-BC00-283D-E638A2EF5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2782"/>
            <a:ext cx="5545870" cy="1658525"/>
          </a:xfrm>
        </p:spPr>
        <p:txBody>
          <a:bodyPr>
            <a:normAutofit/>
          </a:bodyPr>
          <a:lstStyle/>
          <a:p>
            <a:r>
              <a:rPr lang="pt-BR" sz="4100" b="1"/>
              <a:t>O que é Interpolação no Angular?</a:t>
            </a:r>
            <a:endParaRPr lang="pt-BR" sz="41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154F61-60DE-AD60-E0E1-9ADB0F431B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2548521"/>
            <a:ext cx="6680468" cy="34706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b="1" dirty="0"/>
              <a:t>Definição</a:t>
            </a:r>
            <a:r>
              <a:rPr lang="pt-BR" dirty="0"/>
              <a:t>:</a:t>
            </a:r>
            <a:endParaRPr kumimoji="0" lang="pt-BR" altLang="pt-BR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 interpolação em Angular é uma forma de vincular os dados da classe do componente ao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template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HTML.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Permite exibir valores dinâmicos diretamente no HTML usando chaves duplas 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effectLst/>
                <a:highlight>
                  <a:srgbClr val="FFFF00"/>
                </a:highlight>
                <a:latin typeface="Arial Unicode MS"/>
              </a:rPr>
              <a:t>{{ }}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endParaRPr kumimoji="0" lang="pt-BR" altLang="pt-BR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8" name="Graphic 7" descr="Web Design">
            <a:extLst>
              <a:ext uri="{FF2B5EF4-FFF2-40B4-BE49-F238E27FC236}">
                <a16:creationId xmlns:a16="http://schemas.microsoft.com/office/drawing/2014/main" id="{772A62DA-ABA1-FE15-DE5F-762662BCE8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3116" y="1196906"/>
            <a:ext cx="4289283" cy="428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987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00BC39-EAED-B1F5-3CE6-971E617A9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21">
            <a:extLst>
              <a:ext uri="{FF2B5EF4-FFF2-40B4-BE49-F238E27FC236}">
                <a16:creationId xmlns:a16="http://schemas.microsoft.com/office/drawing/2014/main" id="{0CF52A5B-5810-4130-A3DB-FD2582D053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23">
            <a:extLst>
              <a:ext uri="{FF2B5EF4-FFF2-40B4-BE49-F238E27FC236}">
                <a16:creationId xmlns:a16="http://schemas.microsoft.com/office/drawing/2014/main" id="{B8FE145C-BED6-4533-8211-7AC773F7A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916078" cy="6858000"/>
          </a:xfrm>
          <a:custGeom>
            <a:avLst/>
            <a:gdLst>
              <a:gd name="connsiteX0" fmla="*/ 8183400 w 8916078"/>
              <a:gd name="connsiteY0" fmla="*/ 3865853 h 6820849"/>
              <a:gd name="connsiteX1" fmla="*/ 8259593 w 8916078"/>
              <a:gd name="connsiteY1" fmla="*/ 3878252 h 6820849"/>
              <a:gd name="connsiteX2" fmla="*/ 8529076 w 8916078"/>
              <a:gd name="connsiteY2" fmla="*/ 4345010 h 6820849"/>
              <a:gd name="connsiteX3" fmla="*/ 8062319 w 8916078"/>
              <a:gd name="connsiteY3" fmla="*/ 4614493 h 6820849"/>
              <a:gd name="connsiteX4" fmla="*/ 7792836 w 8916078"/>
              <a:gd name="connsiteY4" fmla="*/ 4147735 h 6820849"/>
              <a:gd name="connsiteX5" fmla="*/ 8183400 w 8916078"/>
              <a:gd name="connsiteY5" fmla="*/ 3865853 h 6820849"/>
              <a:gd name="connsiteX6" fmla="*/ 8734942 w 8916078"/>
              <a:gd name="connsiteY6" fmla="*/ 2667480 h 6820849"/>
              <a:gd name="connsiteX7" fmla="*/ 8773412 w 8916078"/>
              <a:gd name="connsiteY7" fmla="*/ 2673741 h 6820849"/>
              <a:gd name="connsiteX8" fmla="*/ 8909474 w 8916078"/>
              <a:gd name="connsiteY8" fmla="*/ 2909407 h 6820849"/>
              <a:gd name="connsiteX9" fmla="*/ 8673808 w 8916078"/>
              <a:gd name="connsiteY9" fmla="*/ 3045469 h 6820849"/>
              <a:gd name="connsiteX10" fmla="*/ 8537746 w 8916078"/>
              <a:gd name="connsiteY10" fmla="*/ 2809802 h 6820849"/>
              <a:gd name="connsiteX11" fmla="*/ 8697151 w 8916078"/>
              <a:gd name="connsiteY11" fmla="*/ 2668961 h 6820849"/>
              <a:gd name="connsiteX12" fmla="*/ 8734942 w 8916078"/>
              <a:gd name="connsiteY12" fmla="*/ 2667480 h 6820849"/>
              <a:gd name="connsiteX13" fmla="*/ 8776652 w 8916078"/>
              <a:gd name="connsiteY13" fmla="*/ 1 h 6820849"/>
              <a:gd name="connsiteX14" fmla="*/ 8786961 w 8916078"/>
              <a:gd name="connsiteY14" fmla="*/ 42970 h 6820849"/>
              <a:gd name="connsiteX15" fmla="*/ 8775876 w 8916078"/>
              <a:gd name="connsiteY15" fmla="*/ 219853 h 6820849"/>
              <a:gd name="connsiteX16" fmla="*/ 8229255 w 8916078"/>
              <a:gd name="connsiteY16" fmla="*/ 535444 h 6820849"/>
              <a:gd name="connsiteX17" fmla="*/ 7899142 w 8916078"/>
              <a:gd name="connsiteY17" fmla="*/ 78053 h 6820849"/>
              <a:gd name="connsiteX18" fmla="*/ 7911844 w 8916078"/>
              <a:gd name="connsiteY18" fmla="*/ 1 h 6820849"/>
              <a:gd name="connsiteX19" fmla="*/ 0 w 8916078"/>
              <a:gd name="connsiteY19" fmla="*/ 0 h 6820849"/>
              <a:gd name="connsiteX20" fmla="*/ 3064542 w 8916078"/>
              <a:gd name="connsiteY20" fmla="*/ 1 h 6820849"/>
              <a:gd name="connsiteX21" fmla="*/ 3626351 w 8916078"/>
              <a:gd name="connsiteY21" fmla="*/ 1 h 6820849"/>
              <a:gd name="connsiteX22" fmla="*/ 6388767 w 8916078"/>
              <a:gd name="connsiteY22" fmla="*/ 1 h 6820849"/>
              <a:gd name="connsiteX23" fmla="*/ 7293415 w 8916078"/>
              <a:gd name="connsiteY23" fmla="*/ 1 h 6820849"/>
              <a:gd name="connsiteX24" fmla="*/ 7285291 w 8916078"/>
              <a:gd name="connsiteY24" fmla="*/ 184997 h 6820849"/>
              <a:gd name="connsiteX25" fmla="*/ 7288318 w 8916078"/>
              <a:gd name="connsiteY25" fmla="*/ 419996 h 6820849"/>
              <a:gd name="connsiteX26" fmla="*/ 7736280 w 8916078"/>
              <a:gd name="connsiteY26" fmla="*/ 1068100 h 6820849"/>
              <a:gd name="connsiteX27" fmla="*/ 8184147 w 8916078"/>
              <a:gd name="connsiteY27" fmla="*/ 2589406 h 6820849"/>
              <a:gd name="connsiteX28" fmla="*/ 7738154 w 8916078"/>
              <a:gd name="connsiteY28" fmla="*/ 3164270 h 6820849"/>
              <a:gd name="connsiteX29" fmla="*/ 7579762 w 8916078"/>
              <a:gd name="connsiteY29" fmla="*/ 4641256 h 6820849"/>
              <a:gd name="connsiteX30" fmla="*/ 8191492 w 8916078"/>
              <a:gd name="connsiteY30" fmla="*/ 5670858 h 6820849"/>
              <a:gd name="connsiteX31" fmla="*/ 8477065 w 8916078"/>
              <a:gd name="connsiteY31" fmla="*/ 6707671 h 6820849"/>
              <a:gd name="connsiteX32" fmla="*/ 8478852 w 8916078"/>
              <a:gd name="connsiteY32" fmla="*/ 6820849 h 6820849"/>
              <a:gd name="connsiteX33" fmla="*/ 0 w 8916078"/>
              <a:gd name="connsiteY33" fmla="*/ 6820849 h 6820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916078" h="6820849">
                <a:moveTo>
                  <a:pt x="8183400" y="3865853"/>
                </a:moveTo>
                <a:cubicBezTo>
                  <a:pt x="8208679" y="3867370"/>
                  <a:pt x="8234181" y="3871443"/>
                  <a:pt x="8259593" y="3878252"/>
                </a:cubicBezTo>
                <a:cubicBezTo>
                  <a:pt x="8462901" y="3932728"/>
                  <a:pt x="8583552" y="4141703"/>
                  <a:pt x="8529076" y="4345010"/>
                </a:cubicBezTo>
                <a:cubicBezTo>
                  <a:pt x="8474600" y="4548317"/>
                  <a:pt x="8265626" y="4668969"/>
                  <a:pt x="8062319" y="4614493"/>
                </a:cubicBezTo>
                <a:cubicBezTo>
                  <a:pt x="7859012" y="4560017"/>
                  <a:pt x="7738360" y="4351042"/>
                  <a:pt x="7792836" y="4147735"/>
                </a:cubicBezTo>
                <a:cubicBezTo>
                  <a:pt x="7840502" y="3969841"/>
                  <a:pt x="8006457" y="3855230"/>
                  <a:pt x="8183400" y="3865853"/>
                </a:cubicBezTo>
                <a:close/>
                <a:moveTo>
                  <a:pt x="8734942" y="2667480"/>
                </a:moveTo>
                <a:cubicBezTo>
                  <a:pt x="8747705" y="2668246"/>
                  <a:pt x="8760581" y="2670303"/>
                  <a:pt x="8773412" y="2673741"/>
                </a:cubicBezTo>
                <a:cubicBezTo>
                  <a:pt x="8876062" y="2701246"/>
                  <a:pt x="8936980" y="2806757"/>
                  <a:pt x="8909474" y="2909407"/>
                </a:cubicBezTo>
                <a:cubicBezTo>
                  <a:pt x="8881969" y="3012057"/>
                  <a:pt x="8776458" y="3072974"/>
                  <a:pt x="8673808" y="3045469"/>
                </a:cubicBezTo>
                <a:cubicBezTo>
                  <a:pt x="8571158" y="3017965"/>
                  <a:pt x="8510241" y="2912452"/>
                  <a:pt x="8537746" y="2809802"/>
                </a:cubicBezTo>
                <a:cubicBezTo>
                  <a:pt x="8558375" y="2732815"/>
                  <a:pt x="8622882" y="2679302"/>
                  <a:pt x="8697151" y="2668961"/>
                </a:cubicBezTo>
                <a:cubicBezTo>
                  <a:pt x="8709529" y="2667237"/>
                  <a:pt x="8722180" y="2666714"/>
                  <a:pt x="8734942" y="2667480"/>
                </a:cubicBezTo>
                <a:close/>
                <a:moveTo>
                  <a:pt x="8776652" y="1"/>
                </a:moveTo>
                <a:lnTo>
                  <a:pt x="8786961" y="42970"/>
                </a:lnTo>
                <a:cubicBezTo>
                  <a:pt x="8794957" y="100392"/>
                  <a:pt x="8791826" y="160330"/>
                  <a:pt x="8775876" y="219853"/>
                </a:cubicBezTo>
                <a:cubicBezTo>
                  <a:pt x="8712079" y="457946"/>
                  <a:pt x="8467349" y="599241"/>
                  <a:pt x="8229255" y="535444"/>
                </a:cubicBezTo>
                <a:cubicBezTo>
                  <a:pt x="8020924" y="479621"/>
                  <a:pt x="7886703" y="285271"/>
                  <a:pt x="7899142" y="78053"/>
                </a:cubicBezTo>
                <a:lnTo>
                  <a:pt x="7911844" y="1"/>
                </a:lnTo>
                <a:close/>
                <a:moveTo>
                  <a:pt x="0" y="0"/>
                </a:moveTo>
                <a:lnTo>
                  <a:pt x="3064542" y="1"/>
                </a:lnTo>
                <a:lnTo>
                  <a:pt x="3626351" y="1"/>
                </a:lnTo>
                <a:lnTo>
                  <a:pt x="6388767" y="1"/>
                </a:lnTo>
                <a:lnTo>
                  <a:pt x="7293415" y="1"/>
                </a:lnTo>
                <a:lnTo>
                  <a:pt x="7285291" y="184997"/>
                </a:lnTo>
                <a:cubicBezTo>
                  <a:pt x="7283933" y="263521"/>
                  <a:pt x="7284806" y="341911"/>
                  <a:pt x="7288318" y="419996"/>
                </a:cubicBezTo>
                <a:cubicBezTo>
                  <a:pt x="7301507" y="709488"/>
                  <a:pt x="7530168" y="891535"/>
                  <a:pt x="7736280" y="1068100"/>
                </a:cubicBezTo>
                <a:cubicBezTo>
                  <a:pt x="8250069" y="1508062"/>
                  <a:pt x="8424916" y="2032159"/>
                  <a:pt x="8184147" y="2589406"/>
                </a:cubicBezTo>
                <a:cubicBezTo>
                  <a:pt x="8090773" y="2805524"/>
                  <a:pt x="7909218" y="2993264"/>
                  <a:pt x="7738154" y="3164270"/>
                </a:cubicBezTo>
                <a:cubicBezTo>
                  <a:pt x="7279360" y="3622745"/>
                  <a:pt x="7298159" y="4154456"/>
                  <a:pt x="7579762" y="4641256"/>
                </a:cubicBezTo>
                <a:cubicBezTo>
                  <a:pt x="7780382" y="4986833"/>
                  <a:pt x="8020938" y="5311557"/>
                  <a:pt x="8191492" y="5670858"/>
                </a:cubicBezTo>
                <a:cubicBezTo>
                  <a:pt x="8357544" y="6019043"/>
                  <a:pt x="8456063" y="6366409"/>
                  <a:pt x="8477065" y="6707671"/>
                </a:cubicBezTo>
                <a:lnTo>
                  <a:pt x="8478852" y="6820849"/>
                </a:lnTo>
                <a:lnTo>
                  <a:pt x="0" y="682084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622630-2EC2-6F2D-3139-B72C231D2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5"/>
            <a:ext cx="10529455" cy="83315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b="1" dirty="0"/>
              <a:t>O que é Interpolação no Angular?</a:t>
            </a:r>
            <a:endParaRPr lang="pt-B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427100-86A5-2957-2CDB-C42346ACE3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2106204"/>
            <a:ext cx="6029325" cy="40365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r>
              <a:rPr lang="pt-BR" b="1" dirty="0"/>
              <a:t>Por que usar?</a:t>
            </a:r>
            <a:endParaRPr lang="pt-BR" dirty="0"/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dirty="0"/>
              <a:t>Simplicidade e clareza ao exibir dados dinâmicos.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dirty="0"/>
              <a:t>Excelente para mostrar valores de variáveis, expressões ou chamadas de métodos no </a:t>
            </a:r>
            <a:r>
              <a:rPr lang="pt-BR" dirty="0" err="1"/>
              <a:t>template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6721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0AE298-6CB9-D2AA-B188-035FD96E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Sintaxe da Interpolação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5093E8-09F4-B938-6A59-2723E4F0A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Como funciona?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dirty="0"/>
              <a:t>O Angular substitui o conteúdo entre as chaves {{ }} pelo valor da expressão </a:t>
            </a:r>
            <a:r>
              <a:rPr lang="pt-BR" dirty="0" err="1"/>
              <a:t>JavaScript</a:t>
            </a:r>
            <a:r>
              <a:rPr lang="pt-BR" dirty="0"/>
              <a:t> dentro delas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dirty="0"/>
              <a:t>Exemplo básico</a:t>
            </a:r>
          </a:p>
          <a:p>
            <a:pPr>
              <a:buClr>
                <a:schemeClr val="tx1"/>
              </a:buClr>
            </a:pPr>
            <a:r>
              <a:rPr lang="pt-BR" dirty="0"/>
              <a:t>	&lt;h1&gt;{{ </a:t>
            </a:r>
            <a:r>
              <a:rPr lang="pt-BR" dirty="0" err="1"/>
              <a:t>title</a:t>
            </a:r>
            <a:r>
              <a:rPr lang="pt-BR" dirty="0"/>
              <a:t> }}&lt;/h1&gt;</a:t>
            </a:r>
          </a:p>
          <a:p>
            <a:pPr>
              <a:buClr>
                <a:schemeClr val="tx1"/>
              </a:buClr>
            </a:pPr>
            <a:endParaRPr lang="pt-BR" dirty="0"/>
          </a:p>
          <a:p>
            <a:pPr>
              <a:buClr>
                <a:schemeClr val="tx1"/>
              </a:buClr>
            </a:pPr>
            <a:r>
              <a:rPr lang="pt-BR" b="1" dirty="0"/>
              <a:t>Explicação: </a:t>
            </a:r>
            <a:r>
              <a:rPr lang="pt-BR" dirty="0"/>
              <a:t>O valor da variável </a:t>
            </a:r>
            <a:r>
              <a:rPr lang="pt-BR" dirty="0" err="1"/>
              <a:t>title</a:t>
            </a:r>
            <a:r>
              <a:rPr lang="pt-BR" dirty="0"/>
              <a:t> será exibido no lugar de {{ </a:t>
            </a:r>
            <a:r>
              <a:rPr lang="pt-BR" dirty="0" err="1"/>
              <a:t>title</a:t>
            </a:r>
            <a:r>
              <a:rPr lang="pt-BR" dirty="0"/>
              <a:t> }}.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84941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73EFD-5C5C-03AD-D0F1-4D899FE6F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Interpolação com Expressões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57C13CC-5FF9-F53D-8557-37C84988EF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2785646"/>
            <a:ext cx="1051448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Definição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Podemos usar expressões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simples dentro das chaves {{}}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&lt;p&gt;A soma de 2 + 2 é {{ 2 + 2 }}&lt;/p&gt;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&lt;p&gt;O resultado é: {{ valor * 10 }}&lt;/p&gt;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600" b="1" dirty="0"/>
              <a:t>Explicação</a:t>
            </a:r>
            <a:r>
              <a:rPr lang="pt-BR" sz="1600" dirty="0"/>
              <a:t>:</a:t>
            </a:r>
            <a:endParaRPr 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Expressão direta: O Angular avalia a expressão 2 + 2 e exibe o valor 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Expressão com variável: Suponha que valor = 5, o Angular exibirá 50 como o </a:t>
            </a:r>
            <a:r>
              <a:rPr kumimoji="0" lang="pt-BR" altLang="pt-BR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resultado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valor * 10.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170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6BDF4D-4826-490A-8307-7247A295E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E0FF4CF-25CB-4537-9BBF-28B36C76B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5328" y="1352190"/>
            <a:ext cx="7823624" cy="5505810"/>
          </a:xfrm>
          <a:custGeom>
            <a:avLst/>
            <a:gdLst>
              <a:gd name="connsiteX0" fmla="*/ 7676365 w 7823624"/>
              <a:gd name="connsiteY0" fmla="*/ 583688 h 5505810"/>
              <a:gd name="connsiteX1" fmla="*/ 7807957 w 7823624"/>
              <a:gd name="connsiteY1" fmla="*/ 609260 h 5505810"/>
              <a:gd name="connsiteX2" fmla="*/ 7823624 w 7823624"/>
              <a:gd name="connsiteY2" fmla="*/ 618028 h 5505810"/>
              <a:gd name="connsiteX3" fmla="*/ 7823624 w 7823624"/>
              <a:gd name="connsiteY3" fmla="*/ 1356037 h 5505810"/>
              <a:gd name="connsiteX4" fmla="*/ 7783921 w 7823624"/>
              <a:gd name="connsiteY4" fmla="*/ 1367061 h 5505810"/>
              <a:gd name="connsiteX5" fmla="*/ 7685829 w 7823624"/>
              <a:gd name="connsiteY5" fmla="*/ 1364631 h 5505810"/>
              <a:gd name="connsiteX6" fmla="*/ 7556041 w 7823624"/>
              <a:gd name="connsiteY6" fmla="*/ 1308528 h 5505810"/>
              <a:gd name="connsiteX7" fmla="*/ 7412440 w 7823624"/>
              <a:gd name="connsiteY7" fmla="*/ 765688 h 5505810"/>
              <a:gd name="connsiteX8" fmla="*/ 7676365 w 7823624"/>
              <a:gd name="connsiteY8" fmla="*/ 583688 h 5505810"/>
              <a:gd name="connsiteX9" fmla="*/ 7062857 w 7823624"/>
              <a:gd name="connsiteY9" fmla="*/ 396783 h 5505810"/>
              <a:gd name="connsiteX10" fmla="*/ 7127059 w 7823624"/>
              <a:gd name="connsiteY10" fmla="*/ 424535 h 5505810"/>
              <a:gd name="connsiteX11" fmla="*/ 7198094 w 7823624"/>
              <a:gd name="connsiteY11" fmla="*/ 693059 h 5505810"/>
              <a:gd name="connsiteX12" fmla="*/ 7099157 w 7823624"/>
              <a:gd name="connsiteY12" fmla="*/ 778505 h 5505810"/>
              <a:gd name="connsiteX13" fmla="*/ 7034998 w 7823624"/>
              <a:gd name="connsiteY13" fmla="*/ 780480 h 5505810"/>
              <a:gd name="connsiteX14" fmla="*/ 6970795 w 7823624"/>
              <a:gd name="connsiteY14" fmla="*/ 752727 h 5505810"/>
              <a:gd name="connsiteX15" fmla="*/ 6899760 w 7823624"/>
              <a:gd name="connsiteY15" fmla="*/ 484203 h 5505810"/>
              <a:gd name="connsiteX16" fmla="*/ 7062857 w 7823624"/>
              <a:gd name="connsiteY16" fmla="*/ 396783 h 5505810"/>
              <a:gd name="connsiteX17" fmla="*/ 1780739 w 7823624"/>
              <a:gd name="connsiteY17" fmla="*/ 1190 h 5505810"/>
              <a:gd name="connsiteX18" fmla="*/ 2850847 w 7823624"/>
              <a:gd name="connsiteY18" fmla="*/ 384530 h 5505810"/>
              <a:gd name="connsiteX19" fmla="*/ 3809413 w 7823624"/>
              <a:gd name="connsiteY19" fmla="*/ 1153764 h 5505810"/>
              <a:gd name="connsiteX20" fmla="*/ 5160376 w 7823624"/>
              <a:gd name="connsiteY20" fmla="*/ 1003825 h 5505810"/>
              <a:gd name="connsiteX21" fmla="*/ 5677238 w 7823624"/>
              <a:gd name="connsiteY21" fmla="*/ 480424 h 5505810"/>
              <a:gd name="connsiteX22" fmla="*/ 7082965 w 7823624"/>
              <a:gd name="connsiteY22" fmla="*/ 1065272 h 5505810"/>
              <a:gd name="connsiteX23" fmla="*/ 7687818 w 7823624"/>
              <a:gd name="connsiteY23" fmla="*/ 1625585 h 5505810"/>
              <a:gd name="connsiteX24" fmla="*/ 7823624 w 7823624"/>
              <a:gd name="connsiteY24" fmla="*/ 1633445 h 5505810"/>
              <a:gd name="connsiteX25" fmla="*/ 7823624 w 7823624"/>
              <a:gd name="connsiteY25" fmla="*/ 5505810 h 5505810"/>
              <a:gd name="connsiteX26" fmla="*/ 1419133 w 7823624"/>
              <a:gd name="connsiteY26" fmla="*/ 5505810 h 5505810"/>
              <a:gd name="connsiteX27" fmla="*/ 1422753 w 7823624"/>
              <a:gd name="connsiteY27" fmla="*/ 5488656 h 5505810"/>
              <a:gd name="connsiteX28" fmla="*/ 1543078 w 7823624"/>
              <a:gd name="connsiteY28" fmla="*/ 4961644 h 5505810"/>
              <a:gd name="connsiteX29" fmla="*/ 1334564 w 7823624"/>
              <a:gd name="connsiteY29" fmla="*/ 4133160 h 5505810"/>
              <a:gd name="connsiteX30" fmla="*/ 670875 w 7823624"/>
              <a:gd name="connsiteY30" fmla="*/ 3489628 h 5505810"/>
              <a:gd name="connsiteX31" fmla="*/ 499515 w 7823624"/>
              <a:gd name="connsiteY31" fmla="*/ 578153 h 5505810"/>
              <a:gd name="connsiteX32" fmla="*/ 1780739 w 7823624"/>
              <a:gd name="connsiteY32" fmla="*/ 1190 h 550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7823624" h="5505810">
                <a:moveTo>
                  <a:pt x="7676365" y="583688"/>
                </a:moveTo>
                <a:cubicBezTo>
                  <a:pt x="7719804" y="582304"/>
                  <a:pt x="7764489" y="590613"/>
                  <a:pt x="7807957" y="609260"/>
                </a:cubicBezTo>
                <a:lnTo>
                  <a:pt x="7823624" y="618028"/>
                </a:lnTo>
                <a:lnTo>
                  <a:pt x="7823624" y="1356037"/>
                </a:lnTo>
                <a:lnTo>
                  <a:pt x="7783921" y="1367061"/>
                </a:lnTo>
                <a:cubicBezTo>
                  <a:pt x="7751926" y="1371702"/>
                  <a:pt x="7718882" y="1370985"/>
                  <a:pt x="7685829" y="1364631"/>
                </a:cubicBezTo>
                <a:cubicBezTo>
                  <a:pt x="7641760" y="1356162"/>
                  <a:pt x="7597675" y="1337676"/>
                  <a:pt x="7556041" y="1308528"/>
                </a:cubicBezTo>
                <a:cubicBezTo>
                  <a:pt x="7389499" y="1191936"/>
                  <a:pt x="7325207" y="948898"/>
                  <a:pt x="7412440" y="765688"/>
                </a:cubicBezTo>
                <a:cubicBezTo>
                  <a:pt x="7466961" y="651183"/>
                  <a:pt x="7567768" y="587147"/>
                  <a:pt x="7676365" y="583688"/>
                </a:cubicBezTo>
                <a:close/>
                <a:moveTo>
                  <a:pt x="7062857" y="396783"/>
                </a:moveTo>
                <a:cubicBezTo>
                  <a:pt x="7084657" y="400973"/>
                  <a:pt x="7106463" y="410117"/>
                  <a:pt x="7127059" y="424535"/>
                </a:cubicBezTo>
                <a:cubicBezTo>
                  <a:pt x="7209442" y="482209"/>
                  <a:pt x="7241245" y="602433"/>
                  <a:pt x="7198094" y="693059"/>
                </a:cubicBezTo>
                <a:cubicBezTo>
                  <a:pt x="7176519" y="738373"/>
                  <a:pt x="7140289" y="767709"/>
                  <a:pt x="7099157" y="778505"/>
                </a:cubicBezTo>
                <a:cubicBezTo>
                  <a:pt x="7078590" y="783905"/>
                  <a:pt x="7056797" y="784670"/>
                  <a:pt x="7034998" y="780480"/>
                </a:cubicBezTo>
                <a:cubicBezTo>
                  <a:pt x="7013198" y="776289"/>
                  <a:pt x="6991391" y="767146"/>
                  <a:pt x="6970795" y="752727"/>
                </a:cubicBezTo>
                <a:cubicBezTo>
                  <a:pt x="6888412" y="695052"/>
                  <a:pt x="6856608" y="574829"/>
                  <a:pt x="6899760" y="484203"/>
                </a:cubicBezTo>
                <a:cubicBezTo>
                  <a:pt x="6932124" y="416232"/>
                  <a:pt x="6997458" y="384213"/>
                  <a:pt x="7062857" y="396783"/>
                </a:cubicBezTo>
                <a:close/>
                <a:moveTo>
                  <a:pt x="1780739" y="1190"/>
                </a:moveTo>
                <a:cubicBezTo>
                  <a:pt x="2129768" y="14988"/>
                  <a:pt x="2488852" y="148495"/>
                  <a:pt x="2850847" y="384530"/>
                </a:cubicBezTo>
                <a:cubicBezTo>
                  <a:pt x="3184362" y="601036"/>
                  <a:pt x="3487788" y="901267"/>
                  <a:pt x="3809413" y="1153764"/>
                </a:cubicBezTo>
                <a:cubicBezTo>
                  <a:pt x="4262448" y="1508236"/>
                  <a:pt x="4750558" y="1545992"/>
                  <a:pt x="5160376" y="1003825"/>
                </a:cubicBezTo>
                <a:cubicBezTo>
                  <a:pt x="5313232" y="801671"/>
                  <a:pt x="5481196" y="587300"/>
                  <a:pt x="5677238" y="480424"/>
                </a:cubicBezTo>
                <a:cubicBezTo>
                  <a:pt x="6182723" y="204840"/>
                  <a:pt x="6667481" y="431193"/>
                  <a:pt x="7082965" y="1065272"/>
                </a:cubicBezTo>
                <a:cubicBezTo>
                  <a:pt x="7249706" y="1319645"/>
                  <a:pt x="7421998" y="1601453"/>
                  <a:pt x="7687818" y="1625585"/>
                </a:cubicBezTo>
                <a:lnTo>
                  <a:pt x="7823624" y="1633445"/>
                </a:lnTo>
                <a:lnTo>
                  <a:pt x="7823624" y="5505810"/>
                </a:lnTo>
                <a:lnTo>
                  <a:pt x="1419133" y="5505810"/>
                </a:lnTo>
                <a:lnTo>
                  <a:pt x="1422753" y="5488656"/>
                </a:lnTo>
                <a:cubicBezTo>
                  <a:pt x="1462649" y="5312984"/>
                  <a:pt x="1506176" y="5138278"/>
                  <a:pt x="1543078" y="4961644"/>
                </a:cubicBezTo>
                <a:cubicBezTo>
                  <a:pt x="1609806" y="4640258"/>
                  <a:pt x="1539760" y="4343419"/>
                  <a:pt x="1334564" y="4133160"/>
                </a:cubicBezTo>
                <a:cubicBezTo>
                  <a:pt x="1117562" y="3910930"/>
                  <a:pt x="900716" y="3685928"/>
                  <a:pt x="670875" y="3489628"/>
                </a:cubicBezTo>
                <a:cubicBezTo>
                  <a:pt x="-321639" y="2642174"/>
                  <a:pt x="-67393" y="1165752"/>
                  <a:pt x="499515" y="578153"/>
                </a:cubicBezTo>
                <a:cubicBezTo>
                  <a:pt x="899852" y="163598"/>
                  <a:pt x="1331986" y="-16550"/>
                  <a:pt x="1780739" y="119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492070C-7C01-7990-DE38-82AB44BCD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2783"/>
            <a:ext cx="10972800" cy="157080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Interpolação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com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Funções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F6EFD3F-8794-3424-53AB-7279DAC56977}"/>
              </a:ext>
            </a:extLst>
          </p:cNvPr>
          <p:cNvSpPr txBox="1"/>
          <p:nvPr/>
        </p:nvSpPr>
        <p:spPr>
          <a:xfrm>
            <a:off x="609599" y="2397689"/>
            <a:ext cx="3750023" cy="3445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buClr>
                <a:schemeClr val="accent5"/>
              </a:buClr>
            </a:pPr>
            <a:r>
              <a:rPr lang="en-US" b="1" dirty="0" err="1"/>
              <a:t>Definição</a:t>
            </a:r>
            <a:r>
              <a:rPr lang="en-US" dirty="0"/>
              <a:t>: Podemos chamar </a:t>
            </a:r>
            <a:r>
              <a:rPr lang="en-US" dirty="0" err="1"/>
              <a:t>métodos</a:t>
            </a:r>
            <a:r>
              <a:rPr lang="en-US" dirty="0"/>
              <a:t> do </a:t>
            </a:r>
            <a:r>
              <a:rPr lang="en-US" dirty="0" err="1"/>
              <a:t>componente</a:t>
            </a:r>
            <a:r>
              <a:rPr lang="en-US" dirty="0"/>
              <a:t> </a:t>
            </a:r>
            <a:r>
              <a:rPr lang="en-US" dirty="0" err="1"/>
              <a:t>diretamente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interpolação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  <a:spcAft>
                <a:spcPts val="600"/>
              </a:spcAft>
              <a:buClr>
                <a:schemeClr val="accent5"/>
              </a:buClr>
            </a:pPr>
            <a:endParaRPr lang="en-US" dirty="0"/>
          </a:p>
          <a:p>
            <a:pPr>
              <a:lnSpc>
                <a:spcPct val="110000"/>
              </a:lnSpc>
              <a:spcAft>
                <a:spcPts val="600"/>
              </a:spcAft>
              <a:buClr>
                <a:schemeClr val="accent5"/>
              </a:buClr>
            </a:pPr>
            <a:r>
              <a:rPr lang="en-US" dirty="0">
                <a:highlight>
                  <a:srgbClr val="C0C0C0"/>
                </a:highlight>
              </a:rPr>
              <a:t>&lt;p&gt;{{ </a:t>
            </a:r>
            <a:r>
              <a:rPr lang="en-US" dirty="0" err="1">
                <a:highlight>
                  <a:srgbClr val="C0C0C0"/>
                </a:highlight>
              </a:rPr>
              <a:t>getSaudacao</a:t>
            </a:r>
            <a:r>
              <a:rPr lang="en-US" dirty="0">
                <a:highlight>
                  <a:srgbClr val="C0C0C0"/>
                </a:highlight>
              </a:rPr>
              <a:t>() }}&lt;/p&gt;</a:t>
            </a:r>
          </a:p>
          <a:p>
            <a:pPr>
              <a:lnSpc>
                <a:spcPct val="110000"/>
              </a:lnSpc>
              <a:spcAft>
                <a:spcPts val="600"/>
              </a:spcAft>
              <a:buClr>
                <a:schemeClr val="accent5"/>
              </a:buClr>
            </a:pPr>
            <a:endParaRPr lang="en-US" dirty="0"/>
          </a:p>
        </p:txBody>
      </p:sp>
      <p:pic>
        <p:nvPicPr>
          <p:cNvPr id="5" name="Espaço Reservado para Conteúdo 4" descr="Texto&#10;&#10;Descrição gerada automaticamente">
            <a:extLst>
              <a:ext uri="{FF2B5EF4-FFF2-40B4-BE49-F238E27FC236}">
                <a16:creationId xmlns:a16="http://schemas.microsoft.com/office/drawing/2014/main" id="{CDB2E2B7-1700-ADC8-F8BB-215E60E345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85526" y="2636356"/>
            <a:ext cx="4640932" cy="344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585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37C48F90-AFD5-4232-AE7D-27B956BF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13">
            <a:extLst>
              <a:ext uri="{FF2B5EF4-FFF2-40B4-BE49-F238E27FC236}">
                <a16:creationId xmlns:a16="http://schemas.microsoft.com/office/drawing/2014/main" id="{73C96EE1-9524-4300-BFAC-56AA55EB4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855747" y="-1"/>
            <a:ext cx="6336253" cy="6858001"/>
          </a:xfrm>
          <a:custGeom>
            <a:avLst/>
            <a:gdLst>
              <a:gd name="connsiteX0" fmla="*/ 5721063 w 6336253"/>
              <a:gd name="connsiteY0" fmla="*/ 3536635 h 6858001"/>
              <a:gd name="connsiteX1" fmla="*/ 6230651 w 6336253"/>
              <a:gd name="connsiteY1" fmla="*/ 4046223 h 6858001"/>
              <a:gd name="connsiteX2" fmla="*/ 5721063 w 6336253"/>
              <a:gd name="connsiteY2" fmla="*/ 4555811 h 6858001"/>
              <a:gd name="connsiteX3" fmla="*/ 5211475 w 6336253"/>
              <a:gd name="connsiteY3" fmla="*/ 4046223 h 6858001"/>
              <a:gd name="connsiteX4" fmla="*/ 5721063 w 6336253"/>
              <a:gd name="connsiteY4" fmla="*/ 3536635 h 6858001"/>
              <a:gd name="connsiteX5" fmla="*/ 5456902 w 6336253"/>
              <a:gd name="connsiteY5" fmla="*/ 0 h 6858001"/>
              <a:gd name="connsiteX6" fmla="*/ 6321710 w 6336253"/>
              <a:gd name="connsiteY6" fmla="*/ 0 h 6858001"/>
              <a:gd name="connsiteX7" fmla="*/ 6332019 w 6336253"/>
              <a:gd name="connsiteY7" fmla="*/ 42969 h 6858001"/>
              <a:gd name="connsiteX8" fmla="*/ 6320934 w 6336253"/>
              <a:gd name="connsiteY8" fmla="*/ 219852 h 6858001"/>
              <a:gd name="connsiteX9" fmla="*/ 5774313 w 6336253"/>
              <a:gd name="connsiteY9" fmla="*/ 535443 h 6858001"/>
              <a:gd name="connsiteX10" fmla="*/ 5444200 w 6336253"/>
              <a:gd name="connsiteY10" fmla="*/ 78052 h 6858001"/>
              <a:gd name="connsiteX11" fmla="*/ 609600 w 6336253"/>
              <a:gd name="connsiteY11" fmla="*/ 0 h 6858001"/>
              <a:gd name="connsiteX12" fmla="*/ 1171409 w 6336253"/>
              <a:gd name="connsiteY12" fmla="*/ 0 h 6858001"/>
              <a:gd name="connsiteX13" fmla="*/ 4838473 w 6336253"/>
              <a:gd name="connsiteY13" fmla="*/ 0 h 6858001"/>
              <a:gd name="connsiteX14" fmla="*/ 4830349 w 6336253"/>
              <a:gd name="connsiteY14" fmla="*/ 184996 h 6858001"/>
              <a:gd name="connsiteX15" fmla="*/ 4833376 w 6336253"/>
              <a:gd name="connsiteY15" fmla="*/ 419995 h 6858001"/>
              <a:gd name="connsiteX16" fmla="*/ 5281338 w 6336253"/>
              <a:gd name="connsiteY16" fmla="*/ 1068099 h 6858001"/>
              <a:gd name="connsiteX17" fmla="*/ 5729205 w 6336253"/>
              <a:gd name="connsiteY17" fmla="*/ 2589405 h 6858001"/>
              <a:gd name="connsiteX18" fmla="*/ 5283212 w 6336253"/>
              <a:gd name="connsiteY18" fmla="*/ 3164269 h 6858001"/>
              <a:gd name="connsiteX19" fmla="*/ 5124820 w 6336253"/>
              <a:gd name="connsiteY19" fmla="*/ 4641255 h 6858001"/>
              <a:gd name="connsiteX20" fmla="*/ 5736551 w 6336253"/>
              <a:gd name="connsiteY20" fmla="*/ 5670858 h 6858001"/>
              <a:gd name="connsiteX21" fmla="*/ 6022123 w 6336253"/>
              <a:gd name="connsiteY21" fmla="*/ 6707670 h 6858001"/>
              <a:gd name="connsiteX22" fmla="*/ 6024496 w 6336253"/>
              <a:gd name="connsiteY22" fmla="*/ 6858000 h 6858001"/>
              <a:gd name="connsiteX23" fmla="*/ 2242268 w 6336253"/>
              <a:gd name="connsiteY23" fmla="*/ 6858000 h 6858001"/>
              <a:gd name="connsiteX24" fmla="*/ 2242268 w 6336253"/>
              <a:gd name="connsiteY24" fmla="*/ 6858001 h 6858001"/>
              <a:gd name="connsiteX25" fmla="*/ 0 w 6336253"/>
              <a:gd name="connsiteY25" fmla="*/ 6858001 h 6858001"/>
              <a:gd name="connsiteX26" fmla="*/ 0 w 6336253"/>
              <a:gd name="connsiteY26" fmla="*/ 1 h 6858001"/>
              <a:gd name="connsiteX27" fmla="*/ 609600 w 6336253"/>
              <a:gd name="connsiteY27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336253" h="6858001">
                <a:moveTo>
                  <a:pt x="5721063" y="3536635"/>
                </a:moveTo>
                <a:cubicBezTo>
                  <a:pt x="6002501" y="3536635"/>
                  <a:pt x="6230651" y="3764785"/>
                  <a:pt x="6230651" y="4046223"/>
                </a:cubicBezTo>
                <a:cubicBezTo>
                  <a:pt x="6230651" y="4327661"/>
                  <a:pt x="6002501" y="4555811"/>
                  <a:pt x="5721063" y="4555811"/>
                </a:cubicBezTo>
                <a:cubicBezTo>
                  <a:pt x="5439625" y="4555811"/>
                  <a:pt x="5211475" y="4327661"/>
                  <a:pt x="5211475" y="4046223"/>
                </a:cubicBezTo>
                <a:cubicBezTo>
                  <a:pt x="5211475" y="3764785"/>
                  <a:pt x="5439625" y="3536635"/>
                  <a:pt x="5721063" y="3536635"/>
                </a:cubicBezTo>
                <a:close/>
                <a:moveTo>
                  <a:pt x="5456902" y="0"/>
                </a:moveTo>
                <a:lnTo>
                  <a:pt x="6321710" y="0"/>
                </a:lnTo>
                <a:lnTo>
                  <a:pt x="6332019" y="42969"/>
                </a:lnTo>
                <a:cubicBezTo>
                  <a:pt x="6340015" y="100391"/>
                  <a:pt x="6336884" y="160329"/>
                  <a:pt x="6320934" y="219852"/>
                </a:cubicBezTo>
                <a:cubicBezTo>
                  <a:pt x="6257137" y="457945"/>
                  <a:pt x="6012407" y="599240"/>
                  <a:pt x="5774313" y="535443"/>
                </a:cubicBezTo>
                <a:cubicBezTo>
                  <a:pt x="5565982" y="479621"/>
                  <a:pt x="5431761" y="285271"/>
                  <a:pt x="5444200" y="78052"/>
                </a:cubicBezTo>
                <a:close/>
                <a:moveTo>
                  <a:pt x="609600" y="0"/>
                </a:moveTo>
                <a:lnTo>
                  <a:pt x="1171409" y="0"/>
                </a:lnTo>
                <a:lnTo>
                  <a:pt x="4838473" y="0"/>
                </a:lnTo>
                <a:lnTo>
                  <a:pt x="4830349" y="184996"/>
                </a:lnTo>
                <a:cubicBezTo>
                  <a:pt x="4828991" y="263520"/>
                  <a:pt x="4829864" y="341910"/>
                  <a:pt x="4833376" y="419995"/>
                </a:cubicBezTo>
                <a:cubicBezTo>
                  <a:pt x="4846565" y="709488"/>
                  <a:pt x="5075226" y="891535"/>
                  <a:pt x="5281338" y="1068099"/>
                </a:cubicBezTo>
                <a:cubicBezTo>
                  <a:pt x="5795128" y="1508061"/>
                  <a:pt x="5969974" y="2032158"/>
                  <a:pt x="5729205" y="2589405"/>
                </a:cubicBezTo>
                <a:cubicBezTo>
                  <a:pt x="5635831" y="2805523"/>
                  <a:pt x="5454276" y="2993264"/>
                  <a:pt x="5283212" y="3164269"/>
                </a:cubicBezTo>
                <a:cubicBezTo>
                  <a:pt x="4824418" y="3622744"/>
                  <a:pt x="4843217" y="4154456"/>
                  <a:pt x="5124820" y="4641255"/>
                </a:cubicBezTo>
                <a:cubicBezTo>
                  <a:pt x="5325440" y="4986832"/>
                  <a:pt x="5565996" y="5311556"/>
                  <a:pt x="5736551" y="5670858"/>
                </a:cubicBezTo>
                <a:cubicBezTo>
                  <a:pt x="5902602" y="6019042"/>
                  <a:pt x="6001121" y="6366409"/>
                  <a:pt x="6022123" y="6707670"/>
                </a:cubicBezTo>
                <a:lnTo>
                  <a:pt x="6024496" y="6858000"/>
                </a:lnTo>
                <a:lnTo>
                  <a:pt x="2242268" y="6858000"/>
                </a:lnTo>
                <a:lnTo>
                  <a:pt x="2242268" y="6858001"/>
                </a:lnTo>
                <a:lnTo>
                  <a:pt x="0" y="6858001"/>
                </a:lnTo>
                <a:lnTo>
                  <a:pt x="0" y="1"/>
                </a:lnTo>
                <a:lnTo>
                  <a:pt x="60960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4F04A6F-4E91-FC0D-BF10-AECAE588B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2782"/>
            <a:ext cx="5545870" cy="16585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700"/>
              <a:t>Interpolação com Propriedades do Objeto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BE79BA-8C16-992D-16BF-23572CBC2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548521"/>
            <a:ext cx="5545867" cy="3470616"/>
          </a:xfrm>
        </p:spPr>
        <p:txBody>
          <a:bodyPr>
            <a:normAutofit/>
          </a:bodyPr>
          <a:lstStyle/>
          <a:p>
            <a:r>
              <a:rPr lang="pt-BR" b="1"/>
              <a:t>Definição</a:t>
            </a:r>
            <a:r>
              <a:rPr lang="pt-BR"/>
              <a:t>: Podemos acessar as propriedades de um objeto dentro do template usando interpolação.</a:t>
            </a:r>
          </a:p>
          <a:p>
            <a:endParaRPr lang="pt-BR"/>
          </a:p>
          <a:p>
            <a:r>
              <a:rPr lang="pt-BR"/>
              <a:t>&lt;p&gt;Nome: {{ usuario.nome }}&lt;/p&gt;</a:t>
            </a:r>
          </a:p>
          <a:p>
            <a:r>
              <a:rPr lang="pt-BR"/>
              <a:t>&lt;p&gt;Idade: {{ usuario.idade }}&lt;/p&gt;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7B7BE75-933A-80D3-DFB5-FB52B928B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3116" y="1454264"/>
            <a:ext cx="4289283" cy="377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827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B72B2-FC11-6CD4-7448-748115DBD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err="1"/>
              <a:t>Property</a:t>
            </a:r>
            <a:r>
              <a:rPr lang="pt-BR" dirty="0"/>
              <a:t> </a:t>
            </a:r>
            <a:r>
              <a:rPr lang="pt-BR" dirty="0" err="1"/>
              <a:t>Binding</a:t>
            </a:r>
            <a:r>
              <a:rPr lang="pt-BR" dirty="0"/>
              <a:t> (Vinculação de Propriedades):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36BBFD-075D-174C-E212-3CF926D64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 dirty="0"/>
              <a:t>O que é?</a:t>
            </a:r>
            <a:endParaRPr lang="pt-BR" dirty="0"/>
          </a:p>
          <a:p>
            <a:r>
              <a:rPr lang="pt-BR" b="1" dirty="0" err="1"/>
              <a:t>Property</a:t>
            </a:r>
            <a:r>
              <a:rPr lang="pt-BR" b="1" dirty="0"/>
              <a:t> </a:t>
            </a:r>
            <a:r>
              <a:rPr lang="pt-BR" b="1" dirty="0" err="1"/>
              <a:t>Binding</a:t>
            </a:r>
            <a:r>
              <a:rPr lang="pt-BR" dirty="0"/>
              <a:t> é usado para vincular dados a propriedades específicas de elementos HTML ou componentes Angular. Diferente da interpolação, ele permite manipular propriedades diretamente, como o valor de um campo de entrada ou atributos de elementos.</a:t>
            </a:r>
          </a:p>
          <a:p>
            <a:br>
              <a:rPr lang="pt-BR" dirty="0"/>
            </a:br>
            <a:br>
              <a:rPr lang="pt-BR" dirty="0"/>
            </a:br>
            <a:r>
              <a:rPr lang="pt-BR" b="1" dirty="0"/>
              <a:t>Como funciona? </a:t>
            </a:r>
            <a:r>
              <a:rPr lang="pt-BR" dirty="0"/>
              <a:t>Usamos a sintaxe de [] para vincular uma propriedade do componente a uma propriedade do HTML. Além disso, para vinculação bidirecional (enviar e receber dados), usamos [(</a:t>
            </a:r>
            <a:r>
              <a:rPr lang="pt-BR" dirty="0" err="1"/>
              <a:t>ngModel</a:t>
            </a:r>
            <a:r>
              <a:rPr lang="pt-BR" dirty="0"/>
              <a:t>)], que combina </a:t>
            </a:r>
            <a:r>
              <a:rPr lang="pt-BR" dirty="0" err="1"/>
              <a:t>Property</a:t>
            </a:r>
            <a:r>
              <a:rPr lang="pt-BR" dirty="0"/>
              <a:t> </a:t>
            </a:r>
            <a:r>
              <a:rPr lang="pt-BR" dirty="0" err="1"/>
              <a:t>Binding</a:t>
            </a:r>
            <a:r>
              <a:rPr lang="pt-BR" dirty="0"/>
              <a:t> e Event </a:t>
            </a:r>
            <a:r>
              <a:rPr lang="pt-BR" dirty="0" err="1"/>
              <a:t>Binding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Exemplo:</a:t>
            </a:r>
            <a:br>
              <a:rPr lang="pt-BR" dirty="0"/>
            </a:br>
            <a:r>
              <a:rPr lang="en-US" dirty="0"/>
              <a:t>&lt;input type="text" [(</a:t>
            </a:r>
            <a:r>
              <a:rPr lang="en-US" dirty="0" err="1"/>
              <a:t>ngModel</a:t>
            </a:r>
            <a:r>
              <a:rPr lang="en-US" dirty="0"/>
              <a:t>)]="</a:t>
            </a:r>
            <a:r>
              <a:rPr lang="en-US" dirty="0" err="1"/>
              <a:t>nome</a:t>
            </a:r>
            <a:r>
              <a:rPr lang="en-US" dirty="0"/>
              <a:t>"&gt;</a:t>
            </a:r>
          </a:p>
          <a:p>
            <a:endParaRPr lang="pt-BR" b="1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1142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C2E16-0BE2-FBFF-91EE-FC71CC014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B64F4-9402-0F79-E14A-591AEF7E3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42925"/>
            <a:ext cx="6543674" cy="1461249"/>
          </a:xfrm>
        </p:spPr>
        <p:txBody>
          <a:bodyPr anchor="ctr">
            <a:normAutofit/>
          </a:bodyPr>
          <a:lstStyle/>
          <a:p>
            <a:r>
              <a:rPr lang="pt-BR" sz="4400"/>
              <a:t>Introdução ao Angular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3CA30DC-B2DC-35A7-B17B-790255864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9950" y="540500"/>
            <a:ext cx="4362449" cy="1461249"/>
          </a:xfrm>
        </p:spPr>
        <p:txBody>
          <a:bodyPr anchor="ctr">
            <a:normAutofit/>
          </a:bodyPr>
          <a:lstStyle/>
          <a:p>
            <a:endParaRPr lang="pt-BR" dirty="0"/>
          </a:p>
        </p:txBody>
      </p:sp>
      <p:pic>
        <p:nvPicPr>
          <p:cNvPr id="1026" name="Picture 2" descr="Angular.dev : r/Angular2">
            <a:extLst>
              <a:ext uri="{FF2B5EF4-FFF2-40B4-BE49-F238E27FC236}">
                <a16:creationId xmlns:a16="http://schemas.microsoft.com/office/drawing/2014/main" id="{ECBC2854-E881-7CFE-DDC6-C30471DE7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26" b="11675"/>
          <a:stretch/>
        </p:blipFill>
        <p:spPr bwMode="auto">
          <a:xfrm>
            <a:off x="20" y="2140698"/>
            <a:ext cx="12191980" cy="4717302"/>
          </a:xfrm>
          <a:custGeom>
            <a:avLst/>
            <a:gdLst/>
            <a:ahLst/>
            <a:cxnLst/>
            <a:rect l="l" t="t" r="r" b="b"/>
            <a:pathLst>
              <a:path w="12192000" h="4717302">
                <a:moveTo>
                  <a:pt x="4545624" y="203817"/>
                </a:moveTo>
                <a:cubicBezTo>
                  <a:pt x="4760432" y="212378"/>
                  <a:pt x="4978404" y="270695"/>
                  <a:pt x="5197345" y="381665"/>
                </a:cubicBezTo>
                <a:cubicBezTo>
                  <a:pt x="5469063" y="519380"/>
                  <a:pt x="5697157" y="768676"/>
                  <a:pt x="5904467" y="1003103"/>
                </a:cubicBezTo>
                <a:cubicBezTo>
                  <a:pt x="6460267" y="1631811"/>
                  <a:pt x="7148441" y="1649803"/>
                  <a:pt x="7799404" y="1324958"/>
                </a:cubicBezTo>
                <a:cubicBezTo>
                  <a:pt x="8261577" y="1093435"/>
                  <a:pt x="8699978" y="808698"/>
                  <a:pt x="9177500" y="617080"/>
                </a:cubicBezTo>
                <a:cubicBezTo>
                  <a:pt x="10214180" y="198893"/>
                  <a:pt x="11218758" y="217816"/>
                  <a:pt x="12105586" y="813997"/>
                </a:cubicBezTo>
                <a:lnTo>
                  <a:pt x="12192000" y="876736"/>
                </a:lnTo>
                <a:lnTo>
                  <a:pt x="12192000" y="4717302"/>
                </a:lnTo>
                <a:lnTo>
                  <a:pt x="0" y="4717302"/>
                </a:lnTo>
                <a:lnTo>
                  <a:pt x="0" y="1347411"/>
                </a:lnTo>
                <a:lnTo>
                  <a:pt x="67985" y="1306589"/>
                </a:lnTo>
                <a:cubicBezTo>
                  <a:pt x="399959" y="1135764"/>
                  <a:pt x="748383" y="1140050"/>
                  <a:pt x="1114543" y="1215577"/>
                </a:cubicBezTo>
                <a:cubicBezTo>
                  <a:pt x="1512811" y="1297442"/>
                  <a:pt x="1920266" y="1359021"/>
                  <a:pt x="2324754" y="1365710"/>
                </a:cubicBezTo>
                <a:cubicBezTo>
                  <a:pt x="2699664" y="1371691"/>
                  <a:pt x="2952864" y="1090973"/>
                  <a:pt x="3197198" y="838924"/>
                </a:cubicBezTo>
                <a:cubicBezTo>
                  <a:pt x="3615781" y="406968"/>
                  <a:pt x="4073046" y="184983"/>
                  <a:pt x="4545624" y="203817"/>
                </a:cubicBezTo>
                <a:close/>
                <a:moveTo>
                  <a:pt x="2293086" y="102715"/>
                </a:moveTo>
                <a:cubicBezTo>
                  <a:pt x="2467546" y="91895"/>
                  <a:pt x="2639764" y="184257"/>
                  <a:pt x="2722654" y="350616"/>
                </a:cubicBezTo>
                <a:cubicBezTo>
                  <a:pt x="2833176" y="572429"/>
                  <a:pt x="2743044" y="841796"/>
                  <a:pt x="2521340" y="952264"/>
                </a:cubicBezTo>
                <a:cubicBezTo>
                  <a:pt x="2465913" y="979881"/>
                  <a:pt x="2407510" y="994953"/>
                  <a:pt x="2349358" y="998559"/>
                </a:cubicBezTo>
                <a:cubicBezTo>
                  <a:pt x="2174899" y="1009379"/>
                  <a:pt x="2002682" y="917016"/>
                  <a:pt x="1919790" y="750657"/>
                </a:cubicBezTo>
                <a:cubicBezTo>
                  <a:pt x="1809268" y="528844"/>
                  <a:pt x="1899400" y="259477"/>
                  <a:pt x="2121104" y="149010"/>
                </a:cubicBezTo>
                <a:cubicBezTo>
                  <a:pt x="2176531" y="121393"/>
                  <a:pt x="2234933" y="106322"/>
                  <a:pt x="2293086" y="102715"/>
                </a:cubicBezTo>
                <a:close/>
                <a:moveTo>
                  <a:pt x="3233525" y="424"/>
                </a:moveTo>
                <a:cubicBezTo>
                  <a:pt x="3319824" y="-4928"/>
                  <a:pt x="3405013" y="40760"/>
                  <a:pt x="3446016" y="123053"/>
                </a:cubicBezTo>
                <a:cubicBezTo>
                  <a:pt x="3500689" y="232777"/>
                  <a:pt x="3456103" y="366023"/>
                  <a:pt x="3346432" y="420668"/>
                </a:cubicBezTo>
                <a:cubicBezTo>
                  <a:pt x="3319014" y="434329"/>
                  <a:pt x="3290125" y="441785"/>
                  <a:pt x="3261358" y="443568"/>
                </a:cubicBezTo>
                <a:cubicBezTo>
                  <a:pt x="3175059" y="448921"/>
                  <a:pt x="3089870" y="403232"/>
                  <a:pt x="3048866" y="320940"/>
                </a:cubicBezTo>
                <a:cubicBezTo>
                  <a:pt x="2994194" y="211215"/>
                  <a:pt x="3038779" y="77969"/>
                  <a:pt x="3148451" y="23324"/>
                </a:cubicBezTo>
                <a:cubicBezTo>
                  <a:pt x="3175869" y="9663"/>
                  <a:pt x="3204758" y="2208"/>
                  <a:pt x="3233525" y="42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CA6D40C-1E4A-2068-649D-1668A5A093FC}"/>
              </a:ext>
            </a:extLst>
          </p:cNvPr>
          <p:cNvSpPr txBox="1"/>
          <p:nvPr/>
        </p:nvSpPr>
        <p:spPr>
          <a:xfrm>
            <a:off x="8129402" y="5948168"/>
            <a:ext cx="3452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Prof. Jonas Bernardino de Lima</a:t>
            </a:r>
          </a:p>
        </p:txBody>
      </p:sp>
    </p:spTree>
    <p:extLst>
      <p:ext uri="{BB962C8B-B14F-4D97-AF65-F5344CB8AC3E}">
        <p14:creationId xmlns:p14="http://schemas.microsoft.com/office/powerpoint/2010/main" val="870041456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8B095A1D234024AAC8595A4180DB91E" ma:contentTypeVersion="0" ma:contentTypeDescription="Crie um novo documento." ma:contentTypeScope="" ma:versionID="f6f393ee658cb69914546fb72fcbeff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74c6ccb71ee63fbc30cff3237551ec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F6234C-3DE5-4C1B-B0D7-C679C63B778A}"/>
</file>

<file path=customXml/itemProps2.xml><?xml version="1.0" encoding="utf-8"?>
<ds:datastoreItem xmlns:ds="http://schemas.openxmlformats.org/officeDocument/2006/customXml" ds:itemID="{0E38016C-1B54-4B22-9158-DB3F4901C9A5}">
  <ds:schemaRefs>
    <ds:schemaRef ds:uri="http://purl.org/dc/dcmitype/"/>
    <ds:schemaRef ds:uri="http://schemas.openxmlformats.org/package/2006/metadata/core-properties"/>
    <ds:schemaRef ds:uri="20a1473d-d7fd-4fd2-a9ad-5f326ce4fe3b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1155A63-EAC5-4E10-A8A7-00BD0DFFFA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1029</Words>
  <Application>Microsoft Office PowerPoint</Application>
  <PresentationFormat>Widescreen</PresentationFormat>
  <Paragraphs>121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Arial</vt:lpstr>
      <vt:lpstr>Arial Unicode MS</vt:lpstr>
      <vt:lpstr>Avenir Next LT Pro</vt:lpstr>
      <vt:lpstr>Posterama</vt:lpstr>
      <vt:lpstr>SplashVTI</vt:lpstr>
      <vt:lpstr>Introdução ao Angular</vt:lpstr>
      <vt:lpstr>O que é Angular</vt:lpstr>
      <vt:lpstr>Desafios ao Criar Aplicações Sem Framework</vt:lpstr>
      <vt:lpstr>Configurando um Novo Projeto Angular</vt:lpstr>
      <vt:lpstr>Lifecycle de uma aplicação web</vt:lpstr>
      <vt:lpstr>Diferença entre aplicações Server Side e Client Side</vt:lpstr>
      <vt:lpstr>Principais Recursos</vt:lpstr>
      <vt:lpstr>Estrutura</vt:lpstr>
      <vt:lpstr>Componentes: breve introdução</vt:lpstr>
      <vt:lpstr>Componentes: principais metadados</vt:lpstr>
      <vt:lpstr>O que é Interpolação no Angular?</vt:lpstr>
      <vt:lpstr>O que é Interpolação no Angular?</vt:lpstr>
      <vt:lpstr>Sintaxe da Interpolação</vt:lpstr>
      <vt:lpstr>Interpolação com Expressões</vt:lpstr>
      <vt:lpstr>Interpolação com Funções</vt:lpstr>
      <vt:lpstr>Interpolação com Propriedades do Objeto</vt:lpstr>
      <vt:lpstr>Property Binding (Vinculação de Propriedades):</vt:lpstr>
      <vt:lpstr>Introdução ao Angular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Bernardino de Lima</dc:creator>
  <cp:lastModifiedBy>Jonas Bernardino de Lima</cp:lastModifiedBy>
  <cp:revision>3</cp:revision>
  <dcterms:created xsi:type="dcterms:W3CDTF">2024-10-23T01:57:04Z</dcterms:created>
  <dcterms:modified xsi:type="dcterms:W3CDTF">2025-10-10T20:38:13Z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0x010100F8B095A1D234024AAC8595A4180DB91E</vt:lpwstr>
  </property>
</Properties>
</file>